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A047-8DD1-8572-4D57-0C64A0E63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5C37F-0323-0AAB-1649-65B7E1888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334F7-77FD-9656-500F-30D33E47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F6A53-B046-46AC-CC88-97DF846A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1345A-997A-A074-2ED0-3F86A8C3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7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07DC8-FD2A-4E2C-BF4A-F54A8CBBD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70C2-DF68-FF90-FB39-4D1DCFF21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47F0A-1DF9-8CB9-7303-343F45AE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17AB9-21FE-20C0-D44F-D11C70EB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BF652-E205-D48A-F51D-9FCDD418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90C6D-460E-DCE9-A51A-DCB05A5B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50421-479E-A985-3041-DB200A06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A83D2E-3CAF-EC00-9563-C21F2667A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0C246-9227-1C0B-C6ED-C2CD7D768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E171E4-A7DB-BD2F-C2A8-8BDEFE8B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517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42E6D-6081-3EF0-83C0-2CF77277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256214-172C-5875-A9C4-6B97E77F9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1EC328-39CA-C310-B6CF-E499E0F7D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50897-4046-00AB-A0EA-E60161AF2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AB9B4-3292-41AC-6691-2F2C37C3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195E9-9AD8-5B0A-03B0-C90B3B723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11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48D72-E2A5-C806-6EFB-48969FF86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B6710-73CF-7F0C-1D1A-50C9A4169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F68702-59E7-E86E-4069-864A09FD4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52E17B-FAB0-33F1-599E-86A59AE2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A415BD-110A-EFBB-4700-36ABB345D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0CE44E-9CD8-B4BF-F688-DA40409E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1F362F-01F3-3E27-D1D8-03C7D870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04DF86-E0EE-5336-3DE7-60C6CE6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76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CFEC6-1DB6-137E-FAC4-34A588DA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C5E4E4-E19E-BED3-6DBD-5D0A7BD8C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18256E-16EB-83F8-5944-4E145F30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BF625-6FED-7B13-813D-8B7DF5C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54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9C9BD6-2600-24BE-A51F-A46B4E28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7C26D9-AA47-EC84-FE98-A52DE7947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EFEB1-4766-1CFB-E5CE-A4A51CBF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4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79A82-A9C4-EE3A-CCF7-815EF7FBB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3A6A2-0B98-AF84-BD83-9F9B0A17A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4CEEA6-F5AF-3456-DF43-EE0769FB9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BC8B03-3847-23D2-895D-E8374A86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104889-8074-9989-60E9-E21DCB53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E176C1-5288-B4E5-B8DC-38E815C8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92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367B0-E4F7-1DA2-70E3-45DAB86F6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05E54B-AE53-680A-157B-B3F9F387D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230777-D014-8372-FCF6-F55260F38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932242-905C-1F98-FCA2-3F3C6B45B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61E24C-32A3-E96F-0C12-CE3FB74A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1D6C41-0F05-AD61-B97B-2C6AFEA9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39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BA434-DBF9-C7AE-2006-70399058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B039C4-9BE5-43BE-D4C2-A76B2963D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2BF2F-B1E1-0A34-0F36-416A8BCF6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FE7F29-915C-086B-1A6A-BECA1F20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C28067-8083-6C38-D0C1-5F089D8B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8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F2697B-82BA-7370-0140-D4F649511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C1A2FC-30E9-0D0D-9843-A1F4E546E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67A61-704A-F9A4-6019-F416E7BC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EDDE1-D86A-B021-4A48-124D6D3E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F31E1-A04D-EF13-AF61-D5CBB867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16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E3CACD-BC41-0AEC-CBB7-D8BFCF93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86C21-FD84-CC88-FD8C-E1670BA14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CA726-8520-250F-6F19-58D4652344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0DCB8-4481-4F97-AAE7-71123934414E}" type="datetimeFigureOut">
              <a:rPr lang="zh-CN" altLang="en-US" smtClean="0"/>
              <a:t>2025/12/26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2AE35-5022-69DE-86AC-8702FF785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A38EC-29FD-6E43-1BEA-2AB4EAC5A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A5187-358E-4D76-BA9F-E0AFDA3853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3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68C74-4685-23C3-2684-92DC49D1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群体感应系统中欺骗行为对人工合成菌群稳定性的影响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66467-79B5-B11D-1B28-80F5B633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毕业设计组会进度汇报 娄洁瑞 </a:t>
            </a:r>
            <a:r>
              <a:rPr lang="en-US" altLang="zh-CN" dirty="0"/>
              <a:t>2025.12.26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1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E815-6537-5F68-FFEA-F6D5A878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99C3D6C-2A9B-D43B-0C1B-DDC34611C5DC}"/>
              </a:ext>
            </a:extLst>
          </p:cNvPr>
          <p:cNvSpPr txBox="1"/>
          <p:nvPr/>
        </p:nvSpPr>
        <p:spPr>
          <a:xfrm>
            <a:off x="978744" y="1774324"/>
            <a:ext cx="105849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近期已完成的工作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阅读了一下邵学长的毕业论文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群体感应系统中欺骗行为、人工合成菌群稳定性相关概念的学习</a:t>
            </a:r>
          </a:p>
        </p:txBody>
      </p:sp>
    </p:spTree>
    <p:extLst>
      <p:ext uri="{BB962C8B-B14F-4D97-AF65-F5344CB8AC3E}">
        <p14:creationId xmlns:p14="http://schemas.microsoft.com/office/powerpoint/2010/main" val="392720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72C7-08F3-4E3A-2F53-93BB2B87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CF33837-BE9B-768C-159A-1EB493C64B99}"/>
              </a:ext>
            </a:extLst>
          </p:cNvPr>
          <p:cNvSpPr txBox="1"/>
          <p:nvPr/>
        </p:nvSpPr>
        <p:spPr>
          <a:xfrm>
            <a:off x="0" y="89209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单菌株</a:t>
            </a:r>
            <a:r>
              <a:rPr lang="en-US" altLang="zh-CN" dirty="0"/>
              <a:t>QS</a:t>
            </a:r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忽略时滞效应的模型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E2FCF6-062B-9116-CE9D-AA9C796973C8}"/>
              </a:ext>
            </a:extLst>
          </p:cNvPr>
          <p:cNvSpPr txBox="1"/>
          <p:nvPr/>
        </p:nvSpPr>
        <p:spPr>
          <a:xfrm>
            <a:off x="897673" y="939595"/>
            <a:ext cx="10030522" cy="922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基于经典Logistic模型和AHL分泌模型，分析了无时滞情况下菌群生长和信息分子浓度的动态。模拟显示，菌群浓度C趋于环境承载量，信息分子浓度A在稳态下趋于常数。例如，通过Matlab模拟不同参数下的A和C变化趋势。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69F6BE-D9A6-8D1D-E9C3-AD3EF7A0B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718" y="2263795"/>
            <a:ext cx="79248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图片包含 图示&#10;&#10;AI 生成的内容可能不正确。">
            <a:extLst>
              <a:ext uri="{FF2B5EF4-FFF2-40B4-BE49-F238E27FC236}">
                <a16:creationId xmlns:a16="http://schemas.microsoft.com/office/drawing/2014/main" id="{BC578DDE-866D-3949-F9CA-A0910B944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02" y="4259796"/>
            <a:ext cx="3486456" cy="697291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E63DF6C2-F846-A436-DB2C-46699D0F2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26" y="5413509"/>
            <a:ext cx="3067478" cy="1009791"/>
          </a:xfrm>
          <a:prstGeom prst="rect">
            <a:avLst/>
          </a:prstGeom>
        </p:spPr>
      </p:pic>
      <p:pic>
        <p:nvPicPr>
          <p:cNvPr id="9" name="图片 8" descr="图片包含 图示&#10;&#10;AI 生成的内容可能不正确。">
            <a:extLst>
              <a:ext uri="{FF2B5EF4-FFF2-40B4-BE49-F238E27FC236}">
                <a16:creationId xmlns:a16="http://schemas.microsoft.com/office/drawing/2014/main" id="{B8D16877-D28F-EC50-D716-655C05168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660" y="2457314"/>
            <a:ext cx="3591426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59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D0216-86C4-3E57-121B-FB8FA9295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7ABE81-5204-458B-F98D-C8777FF7E8FF}"/>
              </a:ext>
            </a:extLst>
          </p:cNvPr>
          <p:cNvSpPr txBox="1"/>
          <p:nvPr/>
        </p:nvSpPr>
        <p:spPr>
          <a:xfrm>
            <a:off x="0" y="89209"/>
            <a:ext cx="4342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单菌株</a:t>
            </a:r>
            <a:r>
              <a:rPr lang="en-US" altLang="zh-CN" dirty="0"/>
              <a:t>QS</a:t>
            </a:r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带时滞的</a:t>
            </a:r>
            <a:r>
              <a:rPr lang="en-US" altLang="zh-CN" dirty="0"/>
              <a:t>Logistic</a:t>
            </a:r>
            <a:r>
              <a:rPr lang="zh-CN" altLang="en-US" dirty="0"/>
              <a:t>增长分析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3250C5-BBD7-7ABA-C30F-A5637BDADE23}"/>
              </a:ext>
            </a:extLst>
          </p:cNvPr>
          <p:cNvSpPr txBox="1"/>
          <p:nvPr/>
        </p:nvSpPr>
        <p:spPr>
          <a:xfrm>
            <a:off x="807534" y="663938"/>
            <a:ext cx="105769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引入时滞项τ，分析环境感知延迟对菌群稳定性的影响。理论分析表明，当τg &lt; π/2时，系统渐进稳定；否则可能出现Hopf分支（振荡）。模拟结果验证了不同时滞下C的波动行为。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BDA075-9910-C854-A56E-10CC99E84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558" y="1515666"/>
            <a:ext cx="5971362" cy="488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9EB31FFE-FB7B-711C-5B97-88B452CF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5" y="1810700"/>
            <a:ext cx="4801270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8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6F31-6730-6191-CD63-4D733AB6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3E7ECD-5D6D-7F30-D68C-3330DF057962}"/>
              </a:ext>
            </a:extLst>
          </p:cNvPr>
          <p:cNvSpPr txBox="1"/>
          <p:nvPr/>
        </p:nvSpPr>
        <p:spPr>
          <a:xfrm>
            <a:off x="0" y="89209"/>
            <a:ext cx="4009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单菌株</a:t>
            </a:r>
            <a:r>
              <a:rPr lang="en-US" altLang="zh-CN" dirty="0"/>
              <a:t>QS</a:t>
            </a:r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带时滞的</a:t>
            </a:r>
            <a:r>
              <a:rPr lang="en-US" altLang="zh-CN" dirty="0"/>
              <a:t>AHL</a:t>
            </a:r>
            <a:r>
              <a:rPr lang="zh-CN" altLang="en-US" dirty="0"/>
              <a:t>分泌分析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925DA1-1534-46E4-28D6-BAE38094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832611"/>
            <a:ext cx="9601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考虑AHL扩散延迟τ和降解延迟τ*，分析时滞对群体感应响应的影响。模拟显示，延迟越大，群体感应响应越晚；较小的降解周期有助于系统稳定。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142135B3-A33F-B663-292D-955A0EE1B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633" y="1995755"/>
            <a:ext cx="80200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A0EEE584-688F-126A-AB14-7998BB21C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3" y="1995755"/>
            <a:ext cx="3477110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3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3C0CB-6403-B4E8-18C7-53507A08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189D0CA-B039-2B1B-8A7F-7C95AF8A3F1A}"/>
              </a:ext>
            </a:extLst>
          </p:cNvPr>
          <p:cNvSpPr txBox="1"/>
          <p:nvPr/>
        </p:nvSpPr>
        <p:spPr>
          <a:xfrm>
            <a:off x="0" y="89209"/>
            <a:ext cx="5303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单菌株</a:t>
            </a:r>
            <a:r>
              <a:rPr lang="en-US" altLang="zh-CN" dirty="0"/>
              <a:t>QS</a:t>
            </a:r>
            <a:r>
              <a:rPr lang="zh-CN" altLang="en-US" dirty="0"/>
              <a:t>模型</a:t>
            </a:r>
            <a:r>
              <a:rPr lang="en-US" altLang="zh-CN" dirty="0"/>
              <a:t>-</a:t>
            </a:r>
            <a:r>
              <a:rPr lang="zh-CN" altLang="en-US" dirty="0"/>
              <a:t>以</a:t>
            </a:r>
            <a:r>
              <a:rPr lang="en-US" altLang="zh-CN" dirty="0"/>
              <a:t>GLU-SLC</a:t>
            </a:r>
            <a:r>
              <a:rPr lang="zh-CN" altLang="en-US" dirty="0"/>
              <a:t>菌株为例</a:t>
            </a:r>
            <a:r>
              <a:rPr lang="en-US" altLang="zh-CN" dirty="0"/>
              <a:t>-</a:t>
            </a:r>
            <a:r>
              <a:rPr lang="zh-CN" altLang="en-US" dirty="0"/>
              <a:t>基本模型分析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60C825-618E-0CFE-D688-399A92301189}"/>
              </a:ext>
            </a:extLst>
          </p:cNvPr>
          <p:cNvSpPr txBox="1"/>
          <p:nvPr/>
        </p:nvSpPr>
        <p:spPr>
          <a:xfrm>
            <a:off x="2363129" y="737092"/>
            <a:ext cx="7465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构建包含生长、死亡和QS调控的微分方程组。分析表明，系统在有界范围内趋于稳态，参数d和g影响稳定性。模拟结果与实验数据趋势一致。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0655727-FA66-1EA6-393F-F412B8E5D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774" y="1726736"/>
            <a:ext cx="5407180" cy="439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9115A48-7A4C-92E8-2049-F654EFED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64" y="1947718"/>
            <a:ext cx="5149910" cy="80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0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2419F-EDA0-519E-D02F-4A3F335A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">
            <a:extLst>
              <a:ext uri="{FF2B5EF4-FFF2-40B4-BE49-F238E27FC236}">
                <a16:creationId xmlns:a16="http://schemas.microsoft.com/office/drawing/2014/main" id="{1C18A541-61B6-D055-018B-70008440E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151" y="0"/>
            <a:ext cx="6794070" cy="18776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959A2A-E2C3-7712-8957-0E9A384FEAB5}"/>
              </a:ext>
            </a:extLst>
          </p:cNvPr>
          <p:cNvSpPr txBox="1"/>
          <p:nvPr/>
        </p:nvSpPr>
        <p:spPr>
          <a:xfrm>
            <a:off x="1000821" y="2504413"/>
            <a:ext cx="25926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细菌个体从公共池中获取其他个体分泌的公共物质</a:t>
            </a:r>
            <a:r>
              <a:rPr lang="en-US" altLang="zh-CN" dirty="0"/>
              <a:t>,</a:t>
            </a:r>
            <a:r>
              <a:rPr lang="zh-CN" altLang="en-US" dirty="0"/>
              <a:t>享受群体感应利益的行为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在群体感应欺骗行为中</a:t>
            </a:r>
            <a:r>
              <a:rPr lang="en-US" altLang="zh-CN" dirty="0"/>
              <a:t>,</a:t>
            </a:r>
            <a:r>
              <a:rPr lang="zh-CN" altLang="en-US" dirty="0"/>
              <a:t>自身公共物质分泌能力缺失或削弱</a:t>
            </a:r>
            <a:r>
              <a:rPr lang="en-US" altLang="zh-CN" dirty="0"/>
              <a:t>,</a:t>
            </a:r>
            <a:r>
              <a:rPr lang="zh-CN" altLang="en-US" dirty="0"/>
              <a:t>从合作者处窃取公共物质利益的个体即欺骗子</a:t>
            </a:r>
          </a:p>
        </p:txBody>
      </p:sp>
      <p:pic>
        <p:nvPicPr>
          <p:cNvPr id="10" name="图片 9" descr="图示">
            <a:extLst>
              <a:ext uri="{FF2B5EF4-FFF2-40B4-BE49-F238E27FC236}">
                <a16:creationId xmlns:a16="http://schemas.microsoft.com/office/drawing/2014/main" id="{8601B60D-4AA8-FE46-49AF-6DB11AE10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184" y="2504413"/>
            <a:ext cx="6839415" cy="299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2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EC93-571A-853F-5742-EE08BA79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5BB0EB4-3E8B-0C38-74C3-384C05C744E4}"/>
              </a:ext>
            </a:extLst>
          </p:cNvPr>
          <p:cNvSpPr txBox="1"/>
          <p:nvPr/>
        </p:nvSpPr>
        <p:spPr>
          <a:xfrm>
            <a:off x="459988" y="2136338"/>
            <a:ext cx="29634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合作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欺骗生态关系主要朝两个方向发展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CN" dirty="0">
                <a:solidFill>
                  <a:srgbClr val="1F1F1F"/>
                </a:solidFill>
                <a:latin typeface="consolas" panose="020B0609020204030204" pitchFamily="49" charset="0"/>
              </a:rPr>
              <a:t>1.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欺骗子增长后维持稳定或者欺骗子增长后回落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合作者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欺骗子稳定存在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1F1F1F"/>
                </a:solidFill>
                <a:latin typeface="consolas" panose="020B0609020204030204" pitchFamily="49" charset="0"/>
              </a:rPr>
              <a:t>2.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欺骗子快速增长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占据绝对优势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合作者提供的公共物质不足以维持种群繁衍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种群崩溃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图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consolas" panose="020B0609020204030204" pitchFamily="49" charset="0"/>
              </a:rPr>
              <a:t>3).</a:t>
            </a:r>
            <a:endParaRPr lang="zh-CN" altLang="en-US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6114D9DE-B811-EC6D-C6FC-9B1577A2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505" y="901562"/>
            <a:ext cx="7545595" cy="464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4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5F79-A26C-51A9-980E-ED052143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17D36A-FC33-D826-FD49-ED874C80F59E}"/>
              </a:ext>
            </a:extLst>
          </p:cNvPr>
          <p:cNvSpPr txBox="1"/>
          <p:nvPr/>
        </p:nvSpPr>
        <p:spPr>
          <a:xfrm>
            <a:off x="4461641" y="348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合作</a:t>
            </a:r>
            <a:r>
              <a:rPr lang="en-US" altLang="zh-CN" dirty="0"/>
              <a:t>-</a:t>
            </a:r>
            <a:r>
              <a:rPr lang="zh-CN" altLang="en-US" dirty="0"/>
              <a:t>欺骗关系的稳定机制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17DB32-3F7F-00AE-0CED-0A446F92AA3C}"/>
              </a:ext>
            </a:extLst>
          </p:cNvPr>
          <p:cNvSpPr txBox="1"/>
          <p:nvPr/>
        </p:nvSpPr>
        <p:spPr>
          <a:xfrm>
            <a:off x="1508234" y="1620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亲缘选择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FA9584-2F15-6789-9697-666C2382F8DB}"/>
              </a:ext>
            </a:extLst>
          </p:cNvPr>
          <p:cNvSpPr txBox="1"/>
          <p:nvPr/>
        </p:nvSpPr>
        <p:spPr>
          <a:xfrm>
            <a:off x="3920359" y="1620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谨慎代谢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8FA820-7D1B-B7D5-EA16-87A1D24F6384}"/>
              </a:ext>
            </a:extLst>
          </p:cNvPr>
          <p:cNvSpPr txBox="1"/>
          <p:nvPr/>
        </p:nvSpPr>
        <p:spPr>
          <a:xfrm>
            <a:off x="6884276" y="16204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代谢限制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D338FB-FB77-FFEF-28CA-EC719E9A42C1}"/>
              </a:ext>
            </a:extLst>
          </p:cNvPr>
          <p:cNvSpPr txBox="1"/>
          <p:nvPr/>
        </p:nvSpPr>
        <p:spPr>
          <a:xfrm>
            <a:off x="9251731" y="1620486"/>
            <a:ext cx="6490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群体感应监管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02916C-D1CC-6F06-74D3-CEF63396F1E1}"/>
              </a:ext>
            </a:extLst>
          </p:cNvPr>
          <p:cNvSpPr txBox="1"/>
          <p:nvPr/>
        </p:nvSpPr>
        <p:spPr>
          <a:xfrm>
            <a:off x="515022" y="2221029"/>
            <a:ext cx="28144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微生物分泌的信号分子种类差异性使 得个体能够对亲缘关系加以识别，周围相似信号分 子越高，附近近缘关系菌体数量越高，分泌到胞外的 公共物质则更容易被基因相似度较高的个体所利 用，从而可以防止远缘个体对这些公共物质的窃取 和利用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A97988-966E-A320-496F-13A3D8758CB7}"/>
              </a:ext>
            </a:extLst>
          </p:cNvPr>
          <p:cNvSpPr txBox="1"/>
          <p:nvPr/>
        </p:nvSpPr>
        <p:spPr>
          <a:xfrm>
            <a:off x="3530895" y="2292073"/>
            <a:ext cx="2050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降低公共物质的代谢成本从而维持合作</a:t>
            </a:r>
            <a:r>
              <a:rPr lang="en-US" altLang="zh-CN" dirty="0"/>
              <a:t>-</a:t>
            </a:r>
            <a:r>
              <a:rPr lang="zh-CN" altLang="en-US" dirty="0"/>
              <a:t>欺骗稳定的群体感应维持机制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2A387E3-2C67-86C5-FC27-C4E67D6240B4}"/>
              </a:ext>
            </a:extLst>
          </p:cNvPr>
          <p:cNvSpPr txBox="1"/>
          <p:nvPr/>
        </p:nvSpPr>
        <p:spPr>
          <a:xfrm>
            <a:off x="6096000" y="2221029"/>
            <a:ext cx="267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代谢限制指的是将公共物质的分泌与一些关键 的私有物质合成紧密联系在一起，从而防止欺骗子 入侵、维持群体感应稳定的机制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E85261-1480-50AD-633E-0F5A21B14F3F}"/>
              </a:ext>
            </a:extLst>
          </p:cNvPr>
          <p:cNvSpPr txBox="1"/>
          <p:nvPr/>
        </p:nvSpPr>
        <p:spPr>
          <a:xfrm>
            <a:off x="8862510" y="2292073"/>
            <a:ext cx="24863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通过毒素物质控制欺骗子增长、维持种群稳定的机制</a:t>
            </a:r>
          </a:p>
        </p:txBody>
      </p:sp>
    </p:spTree>
    <p:extLst>
      <p:ext uri="{BB962C8B-B14F-4D97-AF65-F5344CB8AC3E}">
        <p14:creationId xmlns:p14="http://schemas.microsoft.com/office/powerpoint/2010/main" val="3172390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26608-E697-1FA8-8FE0-F88AF4A8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接下来的计划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70C07-807A-7588-E263-5762D03C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继续推导原论文中的常微分方程与无显式解方程、数值模拟的求解过程。</a:t>
            </a:r>
            <a:endParaRPr lang="en-US" altLang="zh-CN" dirty="0"/>
          </a:p>
          <a:p>
            <a:r>
              <a:rPr lang="zh-CN" altLang="en-US" dirty="0"/>
              <a:t>阅读相关领域的论文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MATLAB</a:t>
            </a:r>
            <a:r>
              <a:rPr lang="zh-CN" altLang="en-US" dirty="0"/>
              <a:t>对群体感应效应进行数据建模</a:t>
            </a:r>
            <a:endParaRPr lang="en-US" altLang="zh-CN" dirty="0"/>
          </a:p>
          <a:p>
            <a:r>
              <a:rPr lang="zh-CN" altLang="en-US" dirty="0"/>
              <a:t>完成开题报告</a:t>
            </a:r>
          </a:p>
        </p:txBody>
      </p:sp>
    </p:spTree>
    <p:extLst>
      <p:ext uri="{BB962C8B-B14F-4D97-AF65-F5344CB8AC3E}">
        <p14:creationId xmlns:p14="http://schemas.microsoft.com/office/powerpoint/2010/main" val="49164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577</Words>
  <Application>Microsoft Office PowerPoint</Application>
  <PresentationFormat>宽屏</PresentationFormat>
  <Paragraphs>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consolas</vt:lpstr>
      <vt:lpstr>Office 主题​​</vt:lpstr>
      <vt:lpstr>群体感应系统中欺骗行为对人工合成菌群稳定性的影响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接下来的计划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2</cp:revision>
  <dcterms:created xsi:type="dcterms:W3CDTF">2025-12-25T11:06:44Z</dcterms:created>
  <dcterms:modified xsi:type="dcterms:W3CDTF">2025-12-26T03:58:26Z</dcterms:modified>
</cp:coreProperties>
</file>