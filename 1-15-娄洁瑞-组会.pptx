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71" r:id="rId5"/>
    <p:sldId id="272" r:id="rId6"/>
    <p:sldId id="274" r:id="rId7"/>
    <p:sldId id="273" r:id="rId8"/>
    <p:sldId id="275" r:id="rId9"/>
    <p:sldId id="276" r:id="rId10"/>
    <p:sldId id="277" r:id="rId11"/>
    <p:sldId id="269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48" y="3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16A047-8DD1-8572-4D57-0C64A0E63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35C37F-0323-0AAB-1649-65B7E1888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C334F7-77FD-9656-500F-30D33E47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5F6A53-B046-46AC-CC88-97DF846A7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71345A-997A-A074-2ED0-3F86A8C3A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171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707DC8-FD2A-4E2C-BF4A-F54A8CBBD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4370C2-DF68-FF90-FB39-4D1DCFF21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847F0A-1DF9-8CB9-7303-343F45AE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017AB9-21FE-20C0-D44F-D11C70EB9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FBF652-E205-D48A-F51D-9FCDD418E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96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790C6D-460E-DCE9-A51A-DCB05A5B9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A50421-479E-A985-3041-DB200A064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A83D2E-3CAF-EC00-9563-C21F2667A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A0C246-9227-1C0B-C6ED-C2CD7D768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E171E4-A7DB-BD2F-C2A8-8BDEFE8B3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517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842E6D-6081-3EF0-83C0-2CF772776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256214-172C-5875-A9C4-6B97E77F95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31EC328-39CA-C310-B6CF-E499E0F7D2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C50897-4046-00AB-A0EA-E60161AF2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7AB9B4-3292-41AC-6691-2F2C37C36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6195E9-9AD8-5B0A-03B0-C90B3B723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119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848D72-E2A5-C806-6EFB-48969FF86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1B6710-73CF-7F0C-1D1A-50C9A4169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F68702-59E7-E86E-4069-864A09FD4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C52E17B-FAB0-33F1-599E-86A59AE2C5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EA415BD-110A-EFBB-4700-36ABB345D2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F0CE44E-9CD8-B4BF-F688-DA40409E9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11F362F-01F3-3E27-D1D8-03C7D870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004DF86-E0EE-5336-3DE7-60C6CE669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765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BCFEC6-1DB6-137E-FAC4-34A588DAE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C5E4E4-E19E-BED3-6DBD-5D0A7BD8C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018256E-16EB-83F8-5944-4E145F30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1BF625-6FED-7B13-813D-8B7DF5CD0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540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C9C9BD6-2600-24BE-A51F-A46B4E280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7C26D9-AA47-EC84-FE98-A52DE7947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DEFEB1-4766-1CFB-E5CE-A4A51CBF7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4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E79A82-A9C4-EE3A-CCF7-815EF7FBB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E3A6A2-0B98-AF84-BD83-9F9B0A17A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B4CEEA6-F5AF-3456-DF43-EE0769FB9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BC8B03-3847-23D2-895D-E8374A86E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104889-8074-9989-60E9-E21DCB533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E176C1-5288-B4E5-B8DC-38E815C86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922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C367B0-E4F7-1DA2-70E3-45DAB86F6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D05E54B-AE53-680A-157B-B3F9F387D7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A230777-D014-8372-FCF6-F55260F38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932242-905C-1F98-FCA2-3F3C6B45B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61E24C-32A3-E96F-0C12-CE3FB74A4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1D6C41-0F05-AD61-B97B-2C6AFEA95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9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3BA434-DBF9-C7AE-2006-70399058E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B039C4-9BE5-43BE-D4C2-A76B2963DD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72BF2F-B1E1-0A34-0F36-416A8BCF6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FE7F29-915C-086B-1A6A-BECA1F203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C28067-8083-6C38-D0C1-5F089D8B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387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BF2697B-82BA-7370-0140-D4F6495112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C1A2FC-30E9-0D0D-9843-A1F4E546E9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767A61-704A-F9A4-6019-F416E7BC5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4EDDE1-D86A-B021-4A48-124D6D3E4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5F31E1-A04D-EF13-AF61-D5CBB867C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160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1E3CACD-BC41-0AEC-CBB7-D8BFCF933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E86C21-FD84-CC88-FD8C-E1670BA14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6CA726-8520-250F-6F19-58D4652344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0DCB8-4481-4F97-AAE7-71123934414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72AE35-5022-69DE-86AC-8702FF785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BA38EC-29FD-6E43-1BEA-2AB4EAC5A7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233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968C74-4685-23C3-2684-92DC49D136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b="1" dirty="0"/>
              <a:t>群体感应系统中欺骗行为对人工合成菌群稳定性的影响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7566467-79B5-B11D-1B28-80F5B63389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毕业设计组会进度汇报 娄洁瑞 </a:t>
            </a:r>
            <a:r>
              <a:rPr lang="en-US" altLang="zh-CN" dirty="0"/>
              <a:t>2026.01.08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8713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9E815-6537-5F68-FFEA-F6D5A8784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E99C3D6C-2A9B-D43B-0C1B-DDC34611C5DC}"/>
              </a:ext>
            </a:extLst>
          </p:cNvPr>
          <p:cNvSpPr txBox="1"/>
          <p:nvPr/>
        </p:nvSpPr>
        <p:spPr>
          <a:xfrm>
            <a:off x="978744" y="1774324"/>
            <a:ext cx="1022534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近期已完成的工作</a:t>
            </a:r>
            <a:endParaRPr lang="en-US" altLang="zh-CN" sz="2800" dirty="0"/>
          </a:p>
          <a:p>
            <a:pPr marL="514350" indent="-514350">
              <a:buAutoNum type="arabicPeriod"/>
            </a:pPr>
            <a:r>
              <a:rPr lang="zh-CN" altLang="en-US" sz="2800" dirty="0"/>
              <a:t>阅读了几篇关于生态学中欺骗行为的论文。</a:t>
            </a:r>
            <a:endParaRPr lang="en-US" altLang="zh-CN" sz="2800" dirty="0"/>
          </a:p>
          <a:p>
            <a:pPr marL="514350" indent="-514350">
              <a:buAutoNum type="arabicPeriod"/>
            </a:pPr>
            <a:r>
              <a:rPr lang="zh-CN" altLang="en-US" sz="2800" dirty="0"/>
              <a:t>学习了一下</a:t>
            </a:r>
            <a:r>
              <a:rPr lang="en-US" altLang="zh-CN" sz="2800" dirty="0" err="1"/>
              <a:t>Matlab</a:t>
            </a:r>
            <a:r>
              <a:rPr lang="zh-CN" altLang="en-US" sz="2800" dirty="0"/>
              <a:t>建模的一些基本方法</a:t>
            </a:r>
            <a:r>
              <a:rPr lang="en-US" altLang="zh-CN" sz="2800" dirty="0"/>
              <a:t>.</a:t>
            </a:r>
          </a:p>
          <a:p>
            <a:pPr marL="514350" indent="-514350">
              <a:buAutoNum type="arabicPeriod"/>
            </a:pPr>
            <a:r>
              <a:rPr lang="zh-CN" altLang="en-US" sz="2800" dirty="0"/>
              <a:t>完成了开题报告。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927209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0B95B-7473-F199-A606-B48F7DF89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38907119-7E7E-EE42-AF9F-AE062F5F1139}"/>
              </a:ext>
            </a:extLst>
          </p:cNvPr>
          <p:cNvSpPr txBox="1"/>
          <p:nvPr/>
        </p:nvSpPr>
        <p:spPr>
          <a:xfrm>
            <a:off x="1714052" y="679985"/>
            <a:ext cx="8909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When cheating turns into </a:t>
            </a:r>
            <a:r>
              <a:rPr lang="en-US" altLang="zh-CN" b="1" dirty="0" err="1"/>
              <a:t>astabilizing</a:t>
            </a:r>
            <a:r>
              <a:rPr lang="en-US" altLang="zh-CN" b="1" dirty="0"/>
              <a:t> mechanism of plant pollinator communities</a:t>
            </a:r>
            <a:endParaRPr lang="zh-CN" altLang="en-US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A20B076-529F-7C92-E6BC-21E3B596C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806" y="1992669"/>
            <a:ext cx="5682672" cy="3805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4828F33-DCB2-D8E8-A88F-653A106EA38D}"/>
              </a:ext>
            </a:extLst>
          </p:cNvPr>
          <p:cNvSpPr txBox="1"/>
          <p:nvPr/>
        </p:nvSpPr>
        <p:spPr>
          <a:xfrm>
            <a:off x="6915225" y="3156660"/>
            <a:ext cx="44388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植物生产花蜜</a:t>
            </a: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，但需要传粉者帮它传递花粉才能繁殖。</a:t>
            </a:r>
            <a:endParaRPr kumimoji="0" lang="en-US" altLang="zh-CN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传粉鸟负责给花传粉，从而获得花蜜作为报酬。</a:t>
            </a:r>
          </a:p>
        </p:txBody>
      </p:sp>
    </p:spTree>
    <p:extLst>
      <p:ext uri="{BB962C8B-B14F-4D97-AF65-F5344CB8AC3E}">
        <p14:creationId xmlns:p14="http://schemas.microsoft.com/office/powerpoint/2010/main" val="2242866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97B0F-9969-E839-1F68-436D3F37B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D555598D-0D42-BA58-2F0D-50C82237A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0400" y="1697130"/>
            <a:ext cx="69599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latin typeface="Arial" panose="020B0604020202020204" pitchFamily="34" charset="0"/>
              </a:rPr>
              <a:t>保守型作弊（</a:t>
            </a:r>
            <a:r>
              <a:rPr lang="en-US" altLang="zh-CN" b="1" dirty="0">
                <a:latin typeface="Arial" panose="020B0604020202020204" pitchFamily="34" charset="0"/>
              </a:rPr>
              <a:t>Conservative Cheating</a:t>
            </a:r>
            <a:r>
              <a:rPr lang="zh-CN" altLang="en-US" b="1" dirty="0">
                <a:latin typeface="Arial" panose="020B0604020202020204" pitchFamily="34" charset="0"/>
              </a:rPr>
              <a:t>）</a:t>
            </a:r>
            <a:r>
              <a:rPr lang="en-US" altLang="zh-CN" b="1" dirty="0">
                <a:latin typeface="Arial" panose="020B0604020202020204" pitchFamily="34" charset="0"/>
              </a:rPr>
              <a:t>—— “</a:t>
            </a:r>
            <a:r>
              <a:rPr lang="zh-CN" altLang="en-US" b="1" dirty="0">
                <a:latin typeface="Arial" panose="020B0604020202020204" pitchFamily="34" charset="0"/>
              </a:rPr>
              <a:t>偷工减料”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Arial" panose="020B0604020202020204" pitchFamily="34" charset="0"/>
              </a:rPr>
              <a:t>行为：一只鸟本来会规规矩矩地给植物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传粉并获取花蜜。但现在它变懒了，直接刺破植物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的花冠偷走花蜜，却不传粉。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Arial" panose="020B0604020202020204" pitchFamily="34" charset="0"/>
              </a:rPr>
              <a:t>影响：这纯粹是“坑队友”。植物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付出了花蜜，却没得到任何回报。这种作弊会直接损害合作关系，对生态社区不利。</a:t>
            </a:r>
            <a:endParaRPr lang="en-US" altLang="zh-CN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latin typeface="Arial" panose="020B0604020202020204" pitchFamily="34" charset="0"/>
              </a:rPr>
              <a:t>创新型作弊（</a:t>
            </a:r>
            <a:r>
              <a:rPr lang="en-US" altLang="zh-CN" b="1" dirty="0">
                <a:latin typeface="Arial" panose="020B0604020202020204" pitchFamily="34" charset="0"/>
              </a:rPr>
              <a:t>Innovative Cheating</a:t>
            </a:r>
            <a:r>
              <a:rPr lang="zh-CN" altLang="en-US" b="1" dirty="0">
                <a:latin typeface="Arial" panose="020B0604020202020204" pitchFamily="34" charset="0"/>
              </a:rPr>
              <a:t>）</a:t>
            </a:r>
            <a:r>
              <a:rPr lang="en-US" altLang="zh-CN" b="1" dirty="0">
                <a:latin typeface="Arial" panose="020B0604020202020204" pitchFamily="34" charset="0"/>
              </a:rPr>
              <a:t>—— “</a:t>
            </a:r>
            <a:r>
              <a:rPr lang="zh-CN" altLang="en-US" b="1" dirty="0">
                <a:latin typeface="Arial" panose="020B0604020202020204" pitchFamily="34" charset="0"/>
              </a:rPr>
              <a:t>开拓新业务”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Arial" panose="020B0604020202020204" pitchFamily="34" charset="0"/>
              </a:rPr>
              <a:t>行为：一种鸟的嘴巴很短，而植物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的花冠很长，它本来无法进行合法访问。但这只鸟很聪明，它学会了刺破植物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的花冠来偷取花蜜。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Arial" panose="020B0604020202020204" pitchFamily="34" charset="0"/>
              </a:rPr>
              <a:t>影响：这相当于为作弊者开辟了新的食物来源。虽然植物</a:t>
            </a:r>
            <a:r>
              <a:rPr lang="en-US" altLang="zh-CN" dirty="0">
                <a:latin typeface="Arial" panose="020B0604020202020204" pitchFamily="34" charset="0"/>
              </a:rPr>
              <a:t>B</a:t>
            </a:r>
            <a:r>
              <a:rPr lang="zh-CN" altLang="en-US" dirty="0">
                <a:latin typeface="Arial" panose="020B0604020202020204" pitchFamily="34" charset="0"/>
              </a:rPr>
              <a:t>被“白嫖”了，但这种互动本来就不会发生。作弊鸟因此能获得更多食物，更好地生存下去。</a:t>
            </a:r>
            <a:endParaRPr lang="en-US" altLang="zh-CN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zh-CN" altLang="zh-CN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C29D5F0-0669-F259-5928-AC6772B91B34}"/>
              </a:ext>
            </a:extLst>
          </p:cNvPr>
          <p:cNvSpPr txBox="1"/>
          <p:nvPr/>
        </p:nvSpPr>
        <p:spPr>
          <a:xfrm>
            <a:off x="374650" y="3194050"/>
            <a:ext cx="35702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/>
              <a:t>两种欺骗方式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726AE8E-E65D-F472-38E8-E3FC81472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0400" y="5365234"/>
            <a:ext cx="67881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在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特定条件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下，它反而能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增强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社区的稳定性，让更多的物种共存</a:t>
            </a:r>
          </a:p>
        </p:txBody>
      </p:sp>
    </p:spTree>
    <p:extLst>
      <p:ext uri="{BB962C8B-B14F-4D97-AF65-F5344CB8AC3E}">
        <p14:creationId xmlns:p14="http://schemas.microsoft.com/office/powerpoint/2010/main" val="3669665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A296A-B0CE-2882-6A79-C2BCAD77F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AFB4E-23F2-A588-BFAA-1CF4BF578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49" y="1241841"/>
            <a:ext cx="4219575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作弊者最好是“专才”（ Specialist）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：如果作弊的鸟本身食物来源很少（专一于少数几种植物），那么通过创新型作弊获得新食物来源，就等于救了它的命。它活下来了，它原来的合作伙伴也能继续受益。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作弊频率要适中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：不能偷懒成性，偶尔“开拓一下新业务”就好。如果作弊太频繁，就会从“有益的补充”变成“有害的掠夺”。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合作成本不能太高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：如果植物生产花蜜的成本非常高昂，那么任何形式的作弊对它都是沉重打击。</a:t>
            </a:r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FBC6E766-CAF3-8822-B424-995D701E7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" y="242705"/>
            <a:ext cx="6038850" cy="6245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598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0F77D-6EF0-D27C-66CB-3EA52317B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AA728CF-8C94-3EF8-D2E6-36A158294137}"/>
              </a:ext>
            </a:extLst>
          </p:cNvPr>
          <p:cNvSpPr txBox="1"/>
          <p:nvPr/>
        </p:nvSpPr>
        <p:spPr>
          <a:xfrm>
            <a:off x="2343150" y="95935"/>
            <a:ext cx="716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Mutual cheating strengthens a tropical seed dispersal mutualism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A67A2C1-DC8F-B31D-2383-7596222BC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" y="1798935"/>
            <a:ext cx="729615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树的任务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：结出营养丰富的种子，作为给老鼠的“报酬”。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老鼠的任务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：把种子搬到远离母树的地方埋起来，帮助树扩散后代。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0698545-3EDE-87DA-AB2B-E8D7FE754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" y="3429000"/>
            <a:ext cx="813435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老鼠的“作弊”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：老鼠担心种子很快发芽，把营养转移到根里，种子就不好吃了。所以，它们会把种子发出的嫩芽（胚根）咬掉（这种行为叫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radicle pruning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）。这样种子就不会发芽，能当更久的存粮。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种子的“反击”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：树也不是好欺负的。它的种子被咬掉芽后，有能力重新再长出一个新芽（这种行为叫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resprouting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）。这样就能把营养转移走，让老鼠白忙活。</a:t>
            </a:r>
          </a:p>
        </p:txBody>
      </p:sp>
    </p:spTree>
    <p:extLst>
      <p:ext uri="{BB962C8B-B14F-4D97-AF65-F5344CB8AC3E}">
        <p14:creationId xmlns:p14="http://schemas.microsoft.com/office/powerpoint/2010/main" val="4292345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A0BBB-B9FB-29CD-8D0E-46AD3BE6E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BB542E47-C2BA-E416-6E3D-A22D27503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638" y="0"/>
            <a:ext cx="98631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098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0C4B1-50E3-6E8C-AC53-D982E22B2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384FEA-8E8D-A141-C574-70AA75945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" y="291584"/>
            <a:ext cx="111125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对老鼠的好处</a:t>
            </a: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：被咬掉芽的种子，营养流失更慢，能保存更久。这意味着老鼠的“粮食储备”保质期延长了。</a:t>
            </a:r>
          </a:p>
        </p:txBody>
      </p:sp>
      <p:pic>
        <p:nvPicPr>
          <p:cNvPr id="6147" name="Picture 3">
            <a:extLst>
              <a:ext uri="{FF2B5EF4-FFF2-40B4-BE49-F238E27FC236}">
                <a16:creationId xmlns:a16="http://schemas.microsoft.com/office/drawing/2014/main" id="{E9FF6EC3-7EBC-F434-D360-7C778FE71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803275"/>
            <a:ext cx="4010025" cy="310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>
            <a:extLst>
              <a:ext uri="{FF2B5EF4-FFF2-40B4-BE49-F238E27FC236}">
                <a16:creationId xmlns:a16="http://schemas.microsoft.com/office/drawing/2014/main" id="{7D0336F9-E4B2-1831-A5A0-12CB85718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108" y="2826543"/>
            <a:ext cx="4504530" cy="3573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2C31E19E-BCE5-AD1D-DC69-20201B831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" y="4975136"/>
            <a:ext cx="59309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对树的好处</a:t>
            </a: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：正因为被咬掉芽的种子对老鼠来说“价值更高”，老鼠会更愿意把它们搬运到更远、更安全的地方埋藏。而且，这些种子在土里待的时间更长，有更多机会成功发芽长成幼苗。</a:t>
            </a:r>
          </a:p>
        </p:txBody>
      </p:sp>
    </p:spTree>
    <p:extLst>
      <p:ext uri="{BB962C8B-B14F-4D97-AF65-F5344CB8AC3E}">
        <p14:creationId xmlns:p14="http://schemas.microsoft.com/office/powerpoint/2010/main" val="1327102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3FA89-608F-516B-E3D0-EC452B972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674F3DA0-748F-9592-F87B-F1F715CAB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00" y="0"/>
            <a:ext cx="5880100" cy="6697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AC42D1E-7A04-6F88-6FEF-BCE8C1241658}"/>
              </a:ext>
            </a:extLst>
          </p:cNvPr>
          <p:cNvSpPr txBox="1"/>
          <p:nvPr/>
        </p:nvSpPr>
        <p:spPr>
          <a:xfrm>
            <a:off x="6445250" y="2118836"/>
            <a:ext cx="48133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研究人员还建立了一个简单的理论模型（可以理解成一个数学游戏）。</a:t>
            </a:r>
            <a:endParaRPr lang="en-US" altLang="zh-CN" dirty="0"/>
          </a:p>
          <a:p>
            <a:r>
              <a:rPr lang="zh-CN" altLang="en-US" dirty="0"/>
              <a:t>这个模型模拟了两种策略：“合作”和“欺骗”。模型结果显示，在满足特定条件时（比如互相欺骗能让双方都得到比被单方面剥削更多的好处），系统最终会稳定在“互相欺骗”的状态。</a:t>
            </a:r>
          </a:p>
        </p:txBody>
      </p:sp>
    </p:spTree>
    <p:extLst>
      <p:ext uri="{BB962C8B-B14F-4D97-AF65-F5344CB8AC3E}">
        <p14:creationId xmlns:p14="http://schemas.microsoft.com/office/powerpoint/2010/main" val="1715648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9FE33-24E7-0C19-85DB-C2E87DAC2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A42E3B3A-1FC7-BCD9-955C-E3A61DADF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175" y="0"/>
            <a:ext cx="31686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39C50770-CC70-26A2-F322-4A0738E49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8425" y="1847414"/>
            <a:ext cx="61214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稳定合作的新方式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：过去我们认为，稳定合作要靠“选择好伙伴”或“惩罚作弊者”。但这篇文章指出，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允许甚至发展出“互相算计、互相制约”的能力，也能让合作变得极其稳固。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 因为双方都有能力反制对方，谁也无法完全奴役谁，形成了一种动态平衡。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“相爱相杀”的普遍性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：这种“互相欺骗”的稳定模式可能广泛存在于其他共生关系中，比如植物和传粉昆虫、动物和肠道微生物等。</a:t>
            </a:r>
          </a:p>
        </p:txBody>
      </p:sp>
    </p:spTree>
    <p:extLst>
      <p:ext uri="{BB962C8B-B14F-4D97-AF65-F5344CB8AC3E}">
        <p14:creationId xmlns:p14="http://schemas.microsoft.com/office/powerpoint/2010/main" val="431026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326608-E697-1FA8-8FE0-F88AF4A8A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接下来的计划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A70C07-807A-7588-E263-5762D03CB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尝试对多菌群模型进行建模、对合作</a:t>
            </a:r>
            <a:r>
              <a:rPr lang="en-US" altLang="zh-CN" dirty="0"/>
              <a:t>-</a:t>
            </a:r>
            <a:r>
              <a:rPr lang="zh-CN" altLang="en-US" dirty="0"/>
              <a:t>欺骗菌群进行建模</a:t>
            </a:r>
            <a:endParaRPr lang="en-US" altLang="zh-CN" dirty="0"/>
          </a:p>
          <a:p>
            <a:r>
              <a:rPr lang="zh-CN" altLang="en-US" dirty="0"/>
              <a:t>复现一下学长的</a:t>
            </a:r>
            <a:r>
              <a:rPr lang="en-US" altLang="zh-CN" dirty="0" err="1"/>
              <a:t>Matlab</a:t>
            </a:r>
            <a:r>
              <a:rPr lang="zh-CN" altLang="en-US" dirty="0"/>
              <a:t>建模过程</a:t>
            </a:r>
            <a:endParaRPr lang="en-US" altLang="zh-CN" dirty="0"/>
          </a:p>
          <a:p>
            <a:r>
              <a:rPr lang="zh-CN" altLang="en-US" dirty="0"/>
              <a:t>继续阅读相关论文。</a:t>
            </a:r>
          </a:p>
        </p:txBody>
      </p:sp>
    </p:spTree>
    <p:extLst>
      <p:ext uri="{BB962C8B-B14F-4D97-AF65-F5344CB8AC3E}">
        <p14:creationId xmlns:p14="http://schemas.microsoft.com/office/powerpoint/2010/main" val="491643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826</Words>
  <Application>Microsoft Office PowerPoint</Application>
  <PresentationFormat>宽屏</PresentationFormat>
  <Paragraphs>42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等线 Light</vt:lpstr>
      <vt:lpstr>Arial</vt:lpstr>
      <vt:lpstr>Office 主题​​</vt:lpstr>
      <vt:lpstr>群体感应系统中欺骗行为对人工合成菌群稳定性的影响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接下来的计划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洁瑞 娄</dc:creator>
  <cp:lastModifiedBy>洁瑞 娄</cp:lastModifiedBy>
  <cp:revision>4</cp:revision>
  <dcterms:created xsi:type="dcterms:W3CDTF">2025-12-25T11:06:44Z</dcterms:created>
  <dcterms:modified xsi:type="dcterms:W3CDTF">2026-01-15T20:30:35Z</dcterms:modified>
</cp:coreProperties>
</file>