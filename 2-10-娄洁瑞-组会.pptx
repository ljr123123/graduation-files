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77" r:id="rId3"/>
    <p:sldId id="271" r:id="rId4"/>
    <p:sldId id="273" r:id="rId5"/>
    <p:sldId id="272" r:id="rId6"/>
    <p:sldId id="274" r:id="rId7"/>
    <p:sldId id="270" r:id="rId8"/>
    <p:sldId id="275" r:id="rId9"/>
    <p:sldId id="276" r:id="rId1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1" d="100"/>
          <a:sy n="91" d="100"/>
        </p:scale>
        <p:origin x="168"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DD4FF32-06EB-8D59-C5BA-F12FE0292A27}"/>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2EAC86C2-07AE-C80A-8975-2FBDD5D487D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D6BF4F33-9C1B-E026-74AF-5C4DC5A6DD29}"/>
              </a:ext>
            </a:extLst>
          </p:cNvPr>
          <p:cNvSpPr>
            <a:spLocks noGrp="1"/>
          </p:cNvSpPr>
          <p:nvPr>
            <p:ph type="dt" sz="half" idx="10"/>
          </p:nvPr>
        </p:nvSpPr>
        <p:spPr/>
        <p:txBody>
          <a:bodyPr/>
          <a:lstStyle/>
          <a:p>
            <a:fld id="{6E38AEDC-9A76-4F16-B788-62A12EB0E235}" type="datetimeFigureOut">
              <a:rPr lang="zh-CN" altLang="en-US" smtClean="0"/>
              <a:t>2026/2/9</a:t>
            </a:fld>
            <a:endParaRPr lang="zh-CN" altLang="en-US"/>
          </a:p>
        </p:txBody>
      </p:sp>
      <p:sp>
        <p:nvSpPr>
          <p:cNvPr id="5" name="页脚占位符 4">
            <a:extLst>
              <a:ext uri="{FF2B5EF4-FFF2-40B4-BE49-F238E27FC236}">
                <a16:creationId xmlns:a16="http://schemas.microsoft.com/office/drawing/2014/main" id="{988B6F79-B2AD-DD5D-538C-12FA12E7E7A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70255A8-B0B4-389B-9827-BCECA7AD113E}"/>
              </a:ext>
            </a:extLst>
          </p:cNvPr>
          <p:cNvSpPr>
            <a:spLocks noGrp="1"/>
          </p:cNvSpPr>
          <p:nvPr>
            <p:ph type="sldNum" sz="quarter" idx="12"/>
          </p:nvPr>
        </p:nvSpPr>
        <p:spPr/>
        <p:txBody>
          <a:bodyPr/>
          <a:lstStyle/>
          <a:p>
            <a:fld id="{F57334F1-3E3C-421E-B10B-6A95147B67C0}" type="slidenum">
              <a:rPr lang="zh-CN" altLang="en-US" smtClean="0"/>
              <a:t>‹#›</a:t>
            </a:fld>
            <a:endParaRPr lang="zh-CN" altLang="en-US"/>
          </a:p>
        </p:txBody>
      </p:sp>
    </p:spTree>
    <p:extLst>
      <p:ext uri="{BB962C8B-B14F-4D97-AF65-F5344CB8AC3E}">
        <p14:creationId xmlns:p14="http://schemas.microsoft.com/office/powerpoint/2010/main" val="14559180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D4DD6E8-1A5E-B048-3CB8-9E45EE3E7994}"/>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D900F140-89AB-D295-E195-6BB4B594C51A}"/>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129D1CC-8EE4-840C-89B9-4C7723D917CB}"/>
              </a:ext>
            </a:extLst>
          </p:cNvPr>
          <p:cNvSpPr>
            <a:spLocks noGrp="1"/>
          </p:cNvSpPr>
          <p:nvPr>
            <p:ph type="dt" sz="half" idx="10"/>
          </p:nvPr>
        </p:nvSpPr>
        <p:spPr/>
        <p:txBody>
          <a:bodyPr/>
          <a:lstStyle/>
          <a:p>
            <a:fld id="{6E38AEDC-9A76-4F16-B788-62A12EB0E235}" type="datetimeFigureOut">
              <a:rPr lang="zh-CN" altLang="en-US" smtClean="0"/>
              <a:t>2026/2/9</a:t>
            </a:fld>
            <a:endParaRPr lang="zh-CN" altLang="en-US"/>
          </a:p>
        </p:txBody>
      </p:sp>
      <p:sp>
        <p:nvSpPr>
          <p:cNvPr id="5" name="页脚占位符 4">
            <a:extLst>
              <a:ext uri="{FF2B5EF4-FFF2-40B4-BE49-F238E27FC236}">
                <a16:creationId xmlns:a16="http://schemas.microsoft.com/office/drawing/2014/main" id="{99FFC973-4297-1591-5E64-7E4CB3B7820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7A85C76-1118-C0B3-7968-867272E4BDA5}"/>
              </a:ext>
            </a:extLst>
          </p:cNvPr>
          <p:cNvSpPr>
            <a:spLocks noGrp="1"/>
          </p:cNvSpPr>
          <p:nvPr>
            <p:ph type="sldNum" sz="quarter" idx="12"/>
          </p:nvPr>
        </p:nvSpPr>
        <p:spPr/>
        <p:txBody>
          <a:bodyPr/>
          <a:lstStyle/>
          <a:p>
            <a:fld id="{F57334F1-3E3C-421E-B10B-6A95147B67C0}" type="slidenum">
              <a:rPr lang="zh-CN" altLang="en-US" smtClean="0"/>
              <a:t>‹#›</a:t>
            </a:fld>
            <a:endParaRPr lang="zh-CN" altLang="en-US"/>
          </a:p>
        </p:txBody>
      </p:sp>
    </p:spTree>
    <p:extLst>
      <p:ext uri="{BB962C8B-B14F-4D97-AF65-F5344CB8AC3E}">
        <p14:creationId xmlns:p14="http://schemas.microsoft.com/office/powerpoint/2010/main" val="37572959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7F7C56F-69BA-E2D7-29AA-8189893FB5F3}"/>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2340B2CA-4E42-B293-B035-3CA91102892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A08874D8-3AD1-FC69-D9A4-7A33E8D6E626}"/>
              </a:ext>
            </a:extLst>
          </p:cNvPr>
          <p:cNvSpPr>
            <a:spLocks noGrp="1"/>
          </p:cNvSpPr>
          <p:nvPr>
            <p:ph type="dt" sz="half" idx="10"/>
          </p:nvPr>
        </p:nvSpPr>
        <p:spPr/>
        <p:txBody>
          <a:bodyPr/>
          <a:lstStyle/>
          <a:p>
            <a:fld id="{6E38AEDC-9A76-4F16-B788-62A12EB0E235}" type="datetimeFigureOut">
              <a:rPr lang="zh-CN" altLang="en-US" smtClean="0"/>
              <a:t>2026/2/9</a:t>
            </a:fld>
            <a:endParaRPr lang="zh-CN" altLang="en-US"/>
          </a:p>
        </p:txBody>
      </p:sp>
      <p:sp>
        <p:nvSpPr>
          <p:cNvPr id="5" name="页脚占位符 4">
            <a:extLst>
              <a:ext uri="{FF2B5EF4-FFF2-40B4-BE49-F238E27FC236}">
                <a16:creationId xmlns:a16="http://schemas.microsoft.com/office/drawing/2014/main" id="{40AC2023-993E-DE72-C5B9-9B39AAB408E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C90D958-5148-9EB0-7794-969508C1E2C4}"/>
              </a:ext>
            </a:extLst>
          </p:cNvPr>
          <p:cNvSpPr>
            <a:spLocks noGrp="1"/>
          </p:cNvSpPr>
          <p:nvPr>
            <p:ph type="sldNum" sz="quarter" idx="12"/>
          </p:nvPr>
        </p:nvSpPr>
        <p:spPr/>
        <p:txBody>
          <a:bodyPr/>
          <a:lstStyle/>
          <a:p>
            <a:fld id="{F57334F1-3E3C-421E-B10B-6A95147B67C0}" type="slidenum">
              <a:rPr lang="zh-CN" altLang="en-US" smtClean="0"/>
              <a:t>‹#›</a:t>
            </a:fld>
            <a:endParaRPr lang="zh-CN" altLang="en-US"/>
          </a:p>
        </p:txBody>
      </p:sp>
    </p:spTree>
    <p:extLst>
      <p:ext uri="{BB962C8B-B14F-4D97-AF65-F5344CB8AC3E}">
        <p14:creationId xmlns:p14="http://schemas.microsoft.com/office/powerpoint/2010/main" val="9203771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7986C3E-B27B-4C1D-ACDA-99F85C3DC9D1}"/>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C4AA8197-59A2-796A-4E69-E3B73BEB629C}"/>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566F6087-2741-2E83-BBF4-AC52EA3DBE0F}"/>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8687A42E-6A2C-BEE1-734F-8BADBB584ED8}"/>
              </a:ext>
            </a:extLst>
          </p:cNvPr>
          <p:cNvSpPr>
            <a:spLocks noGrp="1"/>
          </p:cNvSpPr>
          <p:nvPr>
            <p:ph type="dt" sz="half" idx="10"/>
          </p:nvPr>
        </p:nvSpPr>
        <p:spPr/>
        <p:txBody>
          <a:bodyPr/>
          <a:lstStyle/>
          <a:p>
            <a:fld id="{6E38AEDC-9A76-4F16-B788-62A12EB0E235}" type="datetimeFigureOut">
              <a:rPr lang="zh-CN" altLang="en-US" smtClean="0"/>
              <a:t>2026/2/9</a:t>
            </a:fld>
            <a:endParaRPr lang="zh-CN" altLang="en-US"/>
          </a:p>
        </p:txBody>
      </p:sp>
      <p:sp>
        <p:nvSpPr>
          <p:cNvPr id="6" name="页脚占位符 5">
            <a:extLst>
              <a:ext uri="{FF2B5EF4-FFF2-40B4-BE49-F238E27FC236}">
                <a16:creationId xmlns:a16="http://schemas.microsoft.com/office/drawing/2014/main" id="{833B28DD-00EC-9005-92CB-AFAB5816068F}"/>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F004E7ED-D823-D121-1052-68E7E957A101}"/>
              </a:ext>
            </a:extLst>
          </p:cNvPr>
          <p:cNvSpPr>
            <a:spLocks noGrp="1"/>
          </p:cNvSpPr>
          <p:nvPr>
            <p:ph type="sldNum" sz="quarter" idx="12"/>
          </p:nvPr>
        </p:nvSpPr>
        <p:spPr/>
        <p:txBody>
          <a:bodyPr/>
          <a:lstStyle/>
          <a:p>
            <a:fld id="{F57334F1-3E3C-421E-B10B-6A95147B67C0}" type="slidenum">
              <a:rPr lang="zh-CN" altLang="en-US" smtClean="0"/>
              <a:t>‹#›</a:t>
            </a:fld>
            <a:endParaRPr lang="zh-CN" altLang="en-US"/>
          </a:p>
        </p:txBody>
      </p:sp>
    </p:spTree>
    <p:extLst>
      <p:ext uri="{BB962C8B-B14F-4D97-AF65-F5344CB8AC3E}">
        <p14:creationId xmlns:p14="http://schemas.microsoft.com/office/powerpoint/2010/main" val="40596369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C14C613-1EC4-5506-3E52-DB8320284FEF}"/>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A1F1CDDC-98BF-40B6-1D15-D1A268967E1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9972AA57-C904-3389-9A6A-7BF0F606A096}"/>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F28171B6-9ED2-089F-8FA9-0D0A8585890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E0E19460-708B-C41B-E676-795A5A652B63}"/>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6B715713-EAEB-ABE3-FBF6-5FEC948E8831}"/>
              </a:ext>
            </a:extLst>
          </p:cNvPr>
          <p:cNvSpPr>
            <a:spLocks noGrp="1"/>
          </p:cNvSpPr>
          <p:nvPr>
            <p:ph type="dt" sz="half" idx="10"/>
          </p:nvPr>
        </p:nvSpPr>
        <p:spPr/>
        <p:txBody>
          <a:bodyPr/>
          <a:lstStyle/>
          <a:p>
            <a:fld id="{6E38AEDC-9A76-4F16-B788-62A12EB0E235}" type="datetimeFigureOut">
              <a:rPr lang="zh-CN" altLang="en-US" smtClean="0"/>
              <a:t>2026/2/9</a:t>
            </a:fld>
            <a:endParaRPr lang="zh-CN" altLang="en-US"/>
          </a:p>
        </p:txBody>
      </p:sp>
      <p:sp>
        <p:nvSpPr>
          <p:cNvPr id="8" name="页脚占位符 7">
            <a:extLst>
              <a:ext uri="{FF2B5EF4-FFF2-40B4-BE49-F238E27FC236}">
                <a16:creationId xmlns:a16="http://schemas.microsoft.com/office/drawing/2014/main" id="{296E090C-C9A9-278B-8DC1-D82833CC20D1}"/>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05D66015-A4D1-4E00-F024-783096439573}"/>
              </a:ext>
            </a:extLst>
          </p:cNvPr>
          <p:cNvSpPr>
            <a:spLocks noGrp="1"/>
          </p:cNvSpPr>
          <p:nvPr>
            <p:ph type="sldNum" sz="quarter" idx="12"/>
          </p:nvPr>
        </p:nvSpPr>
        <p:spPr/>
        <p:txBody>
          <a:bodyPr/>
          <a:lstStyle/>
          <a:p>
            <a:fld id="{F57334F1-3E3C-421E-B10B-6A95147B67C0}" type="slidenum">
              <a:rPr lang="zh-CN" altLang="en-US" smtClean="0"/>
              <a:t>‹#›</a:t>
            </a:fld>
            <a:endParaRPr lang="zh-CN" altLang="en-US"/>
          </a:p>
        </p:txBody>
      </p:sp>
    </p:spTree>
    <p:extLst>
      <p:ext uri="{BB962C8B-B14F-4D97-AF65-F5344CB8AC3E}">
        <p14:creationId xmlns:p14="http://schemas.microsoft.com/office/powerpoint/2010/main" val="19982593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F27E310-ABA1-424B-D7F6-AB69673A954B}"/>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05CDC63E-C6DE-C560-38C4-D6F5EB7F2C7E}"/>
              </a:ext>
            </a:extLst>
          </p:cNvPr>
          <p:cNvSpPr>
            <a:spLocks noGrp="1"/>
          </p:cNvSpPr>
          <p:nvPr>
            <p:ph type="dt" sz="half" idx="10"/>
          </p:nvPr>
        </p:nvSpPr>
        <p:spPr/>
        <p:txBody>
          <a:bodyPr/>
          <a:lstStyle/>
          <a:p>
            <a:fld id="{6E38AEDC-9A76-4F16-B788-62A12EB0E235}" type="datetimeFigureOut">
              <a:rPr lang="zh-CN" altLang="en-US" smtClean="0"/>
              <a:t>2026/2/9</a:t>
            </a:fld>
            <a:endParaRPr lang="zh-CN" altLang="en-US"/>
          </a:p>
        </p:txBody>
      </p:sp>
      <p:sp>
        <p:nvSpPr>
          <p:cNvPr id="4" name="页脚占位符 3">
            <a:extLst>
              <a:ext uri="{FF2B5EF4-FFF2-40B4-BE49-F238E27FC236}">
                <a16:creationId xmlns:a16="http://schemas.microsoft.com/office/drawing/2014/main" id="{26CC543F-8689-EE8B-1640-E7C6058A3F4E}"/>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B12CA5AE-AB65-9DBF-FEFF-D950E6C320FB}"/>
              </a:ext>
            </a:extLst>
          </p:cNvPr>
          <p:cNvSpPr>
            <a:spLocks noGrp="1"/>
          </p:cNvSpPr>
          <p:nvPr>
            <p:ph type="sldNum" sz="quarter" idx="12"/>
          </p:nvPr>
        </p:nvSpPr>
        <p:spPr/>
        <p:txBody>
          <a:bodyPr/>
          <a:lstStyle/>
          <a:p>
            <a:fld id="{F57334F1-3E3C-421E-B10B-6A95147B67C0}" type="slidenum">
              <a:rPr lang="zh-CN" altLang="en-US" smtClean="0"/>
              <a:t>‹#›</a:t>
            </a:fld>
            <a:endParaRPr lang="zh-CN" altLang="en-US"/>
          </a:p>
        </p:txBody>
      </p:sp>
    </p:spTree>
    <p:extLst>
      <p:ext uri="{BB962C8B-B14F-4D97-AF65-F5344CB8AC3E}">
        <p14:creationId xmlns:p14="http://schemas.microsoft.com/office/powerpoint/2010/main" val="42712671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A2881E-D929-F579-0FD5-D79A937F17F8}"/>
              </a:ext>
            </a:extLst>
          </p:cNvPr>
          <p:cNvSpPr>
            <a:spLocks noGrp="1"/>
          </p:cNvSpPr>
          <p:nvPr>
            <p:ph type="dt" sz="half" idx="10"/>
          </p:nvPr>
        </p:nvSpPr>
        <p:spPr/>
        <p:txBody>
          <a:bodyPr/>
          <a:lstStyle/>
          <a:p>
            <a:fld id="{6E38AEDC-9A76-4F16-B788-62A12EB0E235}" type="datetimeFigureOut">
              <a:rPr lang="zh-CN" altLang="en-US" smtClean="0"/>
              <a:t>2026/2/9</a:t>
            </a:fld>
            <a:endParaRPr lang="zh-CN" altLang="en-US"/>
          </a:p>
        </p:txBody>
      </p:sp>
      <p:sp>
        <p:nvSpPr>
          <p:cNvPr id="3" name="页脚占位符 2">
            <a:extLst>
              <a:ext uri="{FF2B5EF4-FFF2-40B4-BE49-F238E27FC236}">
                <a16:creationId xmlns:a16="http://schemas.microsoft.com/office/drawing/2014/main" id="{4C88B523-37E8-381F-ACB7-2D00F8D30B51}"/>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C467B3DE-EAB5-BD96-7AFC-A89EF5DF7AB8}"/>
              </a:ext>
            </a:extLst>
          </p:cNvPr>
          <p:cNvSpPr>
            <a:spLocks noGrp="1"/>
          </p:cNvSpPr>
          <p:nvPr>
            <p:ph type="sldNum" sz="quarter" idx="12"/>
          </p:nvPr>
        </p:nvSpPr>
        <p:spPr/>
        <p:txBody>
          <a:bodyPr/>
          <a:lstStyle/>
          <a:p>
            <a:fld id="{F57334F1-3E3C-421E-B10B-6A95147B67C0}" type="slidenum">
              <a:rPr lang="zh-CN" altLang="en-US" smtClean="0"/>
              <a:t>‹#›</a:t>
            </a:fld>
            <a:endParaRPr lang="zh-CN" altLang="en-US"/>
          </a:p>
        </p:txBody>
      </p:sp>
    </p:spTree>
    <p:extLst>
      <p:ext uri="{BB962C8B-B14F-4D97-AF65-F5344CB8AC3E}">
        <p14:creationId xmlns:p14="http://schemas.microsoft.com/office/powerpoint/2010/main" val="32350377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D7AA703-AFB6-6DC3-44AE-A9F1AD24FB46}"/>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4E9A51BF-BD23-CD87-EEC1-32CF613EE6F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C807F123-7241-936C-AA6B-B04E2EC7AA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C506E74C-9B1E-473C-A605-E8B011D5F2F9}"/>
              </a:ext>
            </a:extLst>
          </p:cNvPr>
          <p:cNvSpPr>
            <a:spLocks noGrp="1"/>
          </p:cNvSpPr>
          <p:nvPr>
            <p:ph type="dt" sz="half" idx="10"/>
          </p:nvPr>
        </p:nvSpPr>
        <p:spPr/>
        <p:txBody>
          <a:bodyPr/>
          <a:lstStyle/>
          <a:p>
            <a:fld id="{6E38AEDC-9A76-4F16-B788-62A12EB0E235}" type="datetimeFigureOut">
              <a:rPr lang="zh-CN" altLang="en-US" smtClean="0"/>
              <a:t>2026/2/9</a:t>
            </a:fld>
            <a:endParaRPr lang="zh-CN" altLang="en-US"/>
          </a:p>
        </p:txBody>
      </p:sp>
      <p:sp>
        <p:nvSpPr>
          <p:cNvPr id="6" name="页脚占位符 5">
            <a:extLst>
              <a:ext uri="{FF2B5EF4-FFF2-40B4-BE49-F238E27FC236}">
                <a16:creationId xmlns:a16="http://schemas.microsoft.com/office/drawing/2014/main" id="{FEC7C0B2-4369-1477-1E16-0B258068B314}"/>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585399D-0A48-53FE-FD07-BD78FB0256D5}"/>
              </a:ext>
            </a:extLst>
          </p:cNvPr>
          <p:cNvSpPr>
            <a:spLocks noGrp="1"/>
          </p:cNvSpPr>
          <p:nvPr>
            <p:ph type="sldNum" sz="quarter" idx="12"/>
          </p:nvPr>
        </p:nvSpPr>
        <p:spPr/>
        <p:txBody>
          <a:bodyPr/>
          <a:lstStyle/>
          <a:p>
            <a:fld id="{F57334F1-3E3C-421E-B10B-6A95147B67C0}" type="slidenum">
              <a:rPr lang="zh-CN" altLang="en-US" smtClean="0"/>
              <a:t>‹#›</a:t>
            </a:fld>
            <a:endParaRPr lang="zh-CN" altLang="en-US"/>
          </a:p>
        </p:txBody>
      </p:sp>
    </p:spTree>
    <p:extLst>
      <p:ext uri="{BB962C8B-B14F-4D97-AF65-F5344CB8AC3E}">
        <p14:creationId xmlns:p14="http://schemas.microsoft.com/office/powerpoint/2010/main" val="40881667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F312F7D-E1EB-BC97-D060-0A40C1370694}"/>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13781FA0-A4CC-23D2-8D84-F83B7DD7DBA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91818C9F-7236-56FF-28DD-9FCD5AB82D0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78D4BD3F-390A-0BE6-E9F0-8971EF1D2DB6}"/>
              </a:ext>
            </a:extLst>
          </p:cNvPr>
          <p:cNvSpPr>
            <a:spLocks noGrp="1"/>
          </p:cNvSpPr>
          <p:nvPr>
            <p:ph type="dt" sz="half" idx="10"/>
          </p:nvPr>
        </p:nvSpPr>
        <p:spPr/>
        <p:txBody>
          <a:bodyPr/>
          <a:lstStyle/>
          <a:p>
            <a:fld id="{6E38AEDC-9A76-4F16-B788-62A12EB0E235}" type="datetimeFigureOut">
              <a:rPr lang="zh-CN" altLang="en-US" smtClean="0"/>
              <a:t>2026/2/9</a:t>
            </a:fld>
            <a:endParaRPr lang="zh-CN" altLang="en-US"/>
          </a:p>
        </p:txBody>
      </p:sp>
      <p:sp>
        <p:nvSpPr>
          <p:cNvPr id="6" name="页脚占位符 5">
            <a:extLst>
              <a:ext uri="{FF2B5EF4-FFF2-40B4-BE49-F238E27FC236}">
                <a16:creationId xmlns:a16="http://schemas.microsoft.com/office/drawing/2014/main" id="{59F32030-916D-2AFC-1C71-77F4DAF479B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B2325ED5-E964-4D7F-D0EB-9373FD4CFB1E}"/>
              </a:ext>
            </a:extLst>
          </p:cNvPr>
          <p:cNvSpPr>
            <a:spLocks noGrp="1"/>
          </p:cNvSpPr>
          <p:nvPr>
            <p:ph type="sldNum" sz="quarter" idx="12"/>
          </p:nvPr>
        </p:nvSpPr>
        <p:spPr/>
        <p:txBody>
          <a:bodyPr/>
          <a:lstStyle/>
          <a:p>
            <a:fld id="{F57334F1-3E3C-421E-B10B-6A95147B67C0}" type="slidenum">
              <a:rPr lang="zh-CN" altLang="en-US" smtClean="0"/>
              <a:t>‹#›</a:t>
            </a:fld>
            <a:endParaRPr lang="zh-CN" altLang="en-US"/>
          </a:p>
        </p:txBody>
      </p:sp>
    </p:spTree>
    <p:extLst>
      <p:ext uri="{BB962C8B-B14F-4D97-AF65-F5344CB8AC3E}">
        <p14:creationId xmlns:p14="http://schemas.microsoft.com/office/powerpoint/2010/main" val="38676171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0240E78-D8D5-D540-D046-2921281D7544}"/>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69E4A2A3-ADC0-D1D9-5341-EDC10673CC48}"/>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725E3F1-B0B9-D46C-56D5-61535629F9E5}"/>
              </a:ext>
            </a:extLst>
          </p:cNvPr>
          <p:cNvSpPr>
            <a:spLocks noGrp="1"/>
          </p:cNvSpPr>
          <p:nvPr>
            <p:ph type="dt" sz="half" idx="10"/>
          </p:nvPr>
        </p:nvSpPr>
        <p:spPr/>
        <p:txBody>
          <a:bodyPr/>
          <a:lstStyle/>
          <a:p>
            <a:fld id="{6E38AEDC-9A76-4F16-B788-62A12EB0E235}" type="datetimeFigureOut">
              <a:rPr lang="zh-CN" altLang="en-US" smtClean="0"/>
              <a:t>2026/2/9</a:t>
            </a:fld>
            <a:endParaRPr lang="zh-CN" altLang="en-US"/>
          </a:p>
        </p:txBody>
      </p:sp>
      <p:sp>
        <p:nvSpPr>
          <p:cNvPr id="5" name="页脚占位符 4">
            <a:extLst>
              <a:ext uri="{FF2B5EF4-FFF2-40B4-BE49-F238E27FC236}">
                <a16:creationId xmlns:a16="http://schemas.microsoft.com/office/drawing/2014/main" id="{76D36935-59B7-0239-ED39-3A200E86F29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231BD5D-E117-33E8-F5DD-CECF4FF06CEC}"/>
              </a:ext>
            </a:extLst>
          </p:cNvPr>
          <p:cNvSpPr>
            <a:spLocks noGrp="1"/>
          </p:cNvSpPr>
          <p:nvPr>
            <p:ph type="sldNum" sz="quarter" idx="12"/>
          </p:nvPr>
        </p:nvSpPr>
        <p:spPr/>
        <p:txBody>
          <a:bodyPr/>
          <a:lstStyle/>
          <a:p>
            <a:fld id="{F57334F1-3E3C-421E-B10B-6A95147B67C0}" type="slidenum">
              <a:rPr lang="zh-CN" altLang="en-US" smtClean="0"/>
              <a:t>‹#›</a:t>
            </a:fld>
            <a:endParaRPr lang="zh-CN" altLang="en-US"/>
          </a:p>
        </p:txBody>
      </p:sp>
    </p:spTree>
    <p:extLst>
      <p:ext uri="{BB962C8B-B14F-4D97-AF65-F5344CB8AC3E}">
        <p14:creationId xmlns:p14="http://schemas.microsoft.com/office/powerpoint/2010/main" val="23093577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113E8537-F0AB-BAFF-8F2F-8B3ABB36CD44}"/>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E6F65816-2460-1C2E-C077-8A9DBD21A0FE}"/>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380E3CA-0854-BF81-54D8-07F901483E1C}"/>
              </a:ext>
            </a:extLst>
          </p:cNvPr>
          <p:cNvSpPr>
            <a:spLocks noGrp="1"/>
          </p:cNvSpPr>
          <p:nvPr>
            <p:ph type="dt" sz="half" idx="10"/>
          </p:nvPr>
        </p:nvSpPr>
        <p:spPr/>
        <p:txBody>
          <a:bodyPr/>
          <a:lstStyle/>
          <a:p>
            <a:fld id="{6E38AEDC-9A76-4F16-B788-62A12EB0E235}" type="datetimeFigureOut">
              <a:rPr lang="zh-CN" altLang="en-US" smtClean="0"/>
              <a:t>2026/2/9</a:t>
            </a:fld>
            <a:endParaRPr lang="zh-CN" altLang="en-US"/>
          </a:p>
        </p:txBody>
      </p:sp>
      <p:sp>
        <p:nvSpPr>
          <p:cNvPr id="5" name="页脚占位符 4">
            <a:extLst>
              <a:ext uri="{FF2B5EF4-FFF2-40B4-BE49-F238E27FC236}">
                <a16:creationId xmlns:a16="http://schemas.microsoft.com/office/drawing/2014/main" id="{5ADCBF10-04AF-0AFB-D3B3-CE7969DACC5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D433248-B4D0-7CB3-3943-147CADB5911C}"/>
              </a:ext>
            </a:extLst>
          </p:cNvPr>
          <p:cNvSpPr>
            <a:spLocks noGrp="1"/>
          </p:cNvSpPr>
          <p:nvPr>
            <p:ph type="sldNum" sz="quarter" idx="12"/>
          </p:nvPr>
        </p:nvSpPr>
        <p:spPr/>
        <p:txBody>
          <a:bodyPr/>
          <a:lstStyle/>
          <a:p>
            <a:fld id="{F57334F1-3E3C-421E-B10B-6A95147B67C0}" type="slidenum">
              <a:rPr lang="zh-CN" altLang="en-US" smtClean="0"/>
              <a:t>‹#›</a:t>
            </a:fld>
            <a:endParaRPr lang="zh-CN" altLang="en-US"/>
          </a:p>
        </p:txBody>
      </p:sp>
    </p:spTree>
    <p:extLst>
      <p:ext uri="{BB962C8B-B14F-4D97-AF65-F5344CB8AC3E}">
        <p14:creationId xmlns:p14="http://schemas.microsoft.com/office/powerpoint/2010/main" val="31465382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34C85182-C709-F920-F049-37AF4C93963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2FD49BD8-6111-02DB-06C1-362CE47AD82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0BC26EF-CC2E-F74D-F629-1336799A61B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E38AEDC-9A76-4F16-B788-62A12EB0E235}" type="datetimeFigureOut">
              <a:rPr lang="zh-CN" altLang="en-US" smtClean="0"/>
              <a:t>2026/2/9</a:t>
            </a:fld>
            <a:endParaRPr lang="zh-CN" altLang="en-US"/>
          </a:p>
        </p:txBody>
      </p:sp>
      <p:sp>
        <p:nvSpPr>
          <p:cNvPr id="5" name="页脚占位符 4">
            <a:extLst>
              <a:ext uri="{FF2B5EF4-FFF2-40B4-BE49-F238E27FC236}">
                <a16:creationId xmlns:a16="http://schemas.microsoft.com/office/drawing/2014/main" id="{3F823F7A-47DA-74AF-4727-0E21E107CF3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86D51AFB-C2ED-E921-27CF-B94BFABCBF9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57334F1-3E3C-421E-B10B-6A95147B67C0}" type="slidenum">
              <a:rPr lang="zh-CN" altLang="en-US" smtClean="0"/>
              <a:t>‹#›</a:t>
            </a:fld>
            <a:endParaRPr lang="zh-CN" altLang="en-US"/>
          </a:p>
        </p:txBody>
      </p:sp>
    </p:spTree>
    <p:extLst>
      <p:ext uri="{BB962C8B-B14F-4D97-AF65-F5344CB8AC3E}">
        <p14:creationId xmlns:p14="http://schemas.microsoft.com/office/powerpoint/2010/main" val="7814811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9968C74-4685-23C3-2684-92DC49D136F2}"/>
              </a:ext>
            </a:extLst>
          </p:cNvPr>
          <p:cNvSpPr>
            <a:spLocks noGrp="1"/>
          </p:cNvSpPr>
          <p:nvPr>
            <p:ph type="ctrTitle"/>
          </p:nvPr>
        </p:nvSpPr>
        <p:spPr/>
        <p:txBody>
          <a:bodyPr>
            <a:normAutofit fontScale="90000"/>
          </a:bodyPr>
          <a:lstStyle/>
          <a:p>
            <a:r>
              <a:rPr lang="zh-CN" altLang="zh-CN" b="1" dirty="0"/>
              <a:t>群体感应系统中欺骗行为对人工合成菌群稳定性的影响</a:t>
            </a:r>
            <a:endParaRPr lang="zh-CN" altLang="en-US" dirty="0"/>
          </a:p>
        </p:txBody>
      </p:sp>
      <p:sp>
        <p:nvSpPr>
          <p:cNvPr id="3" name="副标题 2">
            <a:extLst>
              <a:ext uri="{FF2B5EF4-FFF2-40B4-BE49-F238E27FC236}">
                <a16:creationId xmlns:a16="http://schemas.microsoft.com/office/drawing/2014/main" id="{07566467-79B5-B11D-1B28-80F5B63389BF}"/>
              </a:ext>
            </a:extLst>
          </p:cNvPr>
          <p:cNvSpPr>
            <a:spLocks noGrp="1"/>
          </p:cNvSpPr>
          <p:nvPr>
            <p:ph type="subTitle" idx="1"/>
          </p:nvPr>
        </p:nvSpPr>
        <p:spPr/>
        <p:txBody>
          <a:bodyPr/>
          <a:lstStyle/>
          <a:p>
            <a:r>
              <a:rPr lang="zh-CN" altLang="en-US" dirty="0"/>
              <a:t>毕业设计组会进度汇报 娄洁瑞 </a:t>
            </a:r>
            <a:r>
              <a:rPr lang="en-US" altLang="zh-CN" dirty="0"/>
              <a:t>2026.02.10</a:t>
            </a:r>
            <a:endParaRPr lang="zh-CN" altLang="en-US" dirty="0"/>
          </a:p>
        </p:txBody>
      </p:sp>
    </p:spTree>
    <p:extLst>
      <p:ext uri="{BB962C8B-B14F-4D97-AF65-F5344CB8AC3E}">
        <p14:creationId xmlns:p14="http://schemas.microsoft.com/office/powerpoint/2010/main" val="32187133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A6050F-190E-D640-3B8E-4B849C9F2B2A}"/>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E9690E00-C6BC-A63A-2682-343D725F6879}"/>
              </a:ext>
            </a:extLst>
          </p:cNvPr>
          <p:cNvSpPr txBox="1"/>
          <p:nvPr/>
        </p:nvSpPr>
        <p:spPr>
          <a:xfrm>
            <a:off x="3048930" y="434227"/>
            <a:ext cx="6094140" cy="369332"/>
          </a:xfrm>
          <a:prstGeom prst="rect">
            <a:avLst/>
          </a:prstGeom>
          <a:noFill/>
        </p:spPr>
        <p:txBody>
          <a:bodyPr wrap="square">
            <a:spAutoFit/>
          </a:bodyPr>
          <a:lstStyle/>
          <a:p>
            <a:pPr algn="ctr"/>
            <a:r>
              <a:rPr lang="zh-CN" altLang="en-US" b="1" dirty="0"/>
              <a:t>本周完成的任务</a:t>
            </a:r>
          </a:p>
        </p:txBody>
      </p:sp>
      <p:sp>
        <p:nvSpPr>
          <p:cNvPr id="4" name="文本框 3">
            <a:extLst>
              <a:ext uri="{FF2B5EF4-FFF2-40B4-BE49-F238E27FC236}">
                <a16:creationId xmlns:a16="http://schemas.microsoft.com/office/drawing/2014/main" id="{D96C0B32-9F6F-9933-248D-8425A5A729C3}"/>
              </a:ext>
            </a:extLst>
          </p:cNvPr>
          <p:cNvSpPr txBox="1"/>
          <p:nvPr/>
        </p:nvSpPr>
        <p:spPr>
          <a:xfrm>
            <a:off x="751490" y="1755228"/>
            <a:ext cx="4916731" cy="646331"/>
          </a:xfrm>
          <a:prstGeom prst="rect">
            <a:avLst/>
          </a:prstGeom>
          <a:noFill/>
        </p:spPr>
        <p:txBody>
          <a:bodyPr wrap="none" rtlCol="0">
            <a:spAutoFit/>
          </a:bodyPr>
          <a:lstStyle/>
          <a:p>
            <a:pPr marL="342900" indent="-342900">
              <a:buAutoNum type="arabicPeriod"/>
            </a:pPr>
            <a:r>
              <a:rPr lang="zh-CN" altLang="en-US" dirty="0"/>
              <a:t>阅读了邵学长推荐的三篇与毕设相关的论文</a:t>
            </a:r>
            <a:endParaRPr lang="en-US" altLang="zh-CN" dirty="0"/>
          </a:p>
          <a:p>
            <a:pPr marL="342900" indent="-342900">
              <a:buAutoNum type="arabicPeriod"/>
            </a:pPr>
            <a:r>
              <a:rPr lang="en-US" altLang="zh-CN" dirty="0" err="1"/>
              <a:t>Matlab</a:t>
            </a:r>
            <a:r>
              <a:rPr lang="zh-CN" altLang="en-US" dirty="0"/>
              <a:t>代码重构</a:t>
            </a:r>
          </a:p>
        </p:txBody>
      </p:sp>
    </p:spTree>
    <p:extLst>
      <p:ext uri="{BB962C8B-B14F-4D97-AF65-F5344CB8AC3E}">
        <p14:creationId xmlns:p14="http://schemas.microsoft.com/office/powerpoint/2010/main" val="36725868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A097DA-1E9B-00C5-DC99-BE4A72890BBD}"/>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BD14CBA2-CB23-4CFE-8D3C-1B407C5C1184}"/>
              </a:ext>
            </a:extLst>
          </p:cNvPr>
          <p:cNvSpPr txBox="1"/>
          <p:nvPr/>
        </p:nvSpPr>
        <p:spPr>
          <a:xfrm>
            <a:off x="1922191" y="367320"/>
            <a:ext cx="8638013" cy="369332"/>
          </a:xfrm>
          <a:prstGeom prst="rect">
            <a:avLst/>
          </a:prstGeom>
          <a:noFill/>
        </p:spPr>
        <p:txBody>
          <a:bodyPr wrap="square">
            <a:spAutoFit/>
          </a:bodyPr>
          <a:lstStyle/>
          <a:p>
            <a:pPr algn="ctr"/>
            <a:r>
              <a:rPr lang="en-US" altLang="zh-CN" b="1" dirty="0"/>
              <a:t>Cellular Control of the Synthesis and Activity </a:t>
            </a:r>
            <a:r>
              <a:rPr lang="en-US" altLang="zh-CN" b="1" dirty="0" err="1"/>
              <a:t>ofthe</a:t>
            </a:r>
            <a:r>
              <a:rPr lang="en-US" altLang="zh-CN" b="1" dirty="0"/>
              <a:t> Bacterial Luminescent System</a:t>
            </a:r>
            <a:endParaRPr lang="zh-CN" altLang="en-US" b="1" dirty="0"/>
          </a:p>
        </p:txBody>
      </p:sp>
      <p:sp>
        <p:nvSpPr>
          <p:cNvPr id="4" name="文本框 3">
            <a:extLst>
              <a:ext uri="{FF2B5EF4-FFF2-40B4-BE49-F238E27FC236}">
                <a16:creationId xmlns:a16="http://schemas.microsoft.com/office/drawing/2014/main" id="{74B209B4-F71F-7045-2911-82593BE789C2}"/>
              </a:ext>
            </a:extLst>
          </p:cNvPr>
          <p:cNvSpPr txBox="1"/>
          <p:nvPr/>
        </p:nvSpPr>
        <p:spPr>
          <a:xfrm>
            <a:off x="3194127" y="736652"/>
            <a:ext cx="6094140" cy="369332"/>
          </a:xfrm>
          <a:prstGeom prst="rect">
            <a:avLst/>
          </a:prstGeom>
          <a:noFill/>
        </p:spPr>
        <p:txBody>
          <a:bodyPr wrap="square">
            <a:spAutoFit/>
          </a:bodyPr>
          <a:lstStyle/>
          <a:p>
            <a:pPr algn="ctr"/>
            <a:r>
              <a:rPr lang="zh-CN" altLang="en-US" b="1" i="0" dirty="0">
                <a:solidFill>
                  <a:srgbClr val="3C51B4"/>
                </a:solidFill>
                <a:effectLst/>
                <a:latin typeface="Arial" panose="020B0604020202020204" pitchFamily="34" charset="0"/>
              </a:rPr>
              <a:t>细胞对细菌发光系统合成和活性的控制</a:t>
            </a:r>
            <a:endParaRPr lang="zh-CN" altLang="en-US" dirty="0"/>
          </a:p>
        </p:txBody>
      </p:sp>
      <p:pic>
        <p:nvPicPr>
          <p:cNvPr id="1026" name="Picture 2">
            <a:extLst>
              <a:ext uri="{FF2B5EF4-FFF2-40B4-BE49-F238E27FC236}">
                <a16:creationId xmlns:a16="http://schemas.microsoft.com/office/drawing/2014/main" id="{4068CF80-A147-542D-28F0-1B6FE7680E4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97829" y="1774606"/>
            <a:ext cx="3762375" cy="367665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3">
            <a:extLst>
              <a:ext uri="{FF2B5EF4-FFF2-40B4-BE49-F238E27FC236}">
                <a16:creationId xmlns:a16="http://schemas.microsoft.com/office/drawing/2014/main" id="{38E00E85-AE12-129E-4EB8-49F5224849BC}"/>
              </a:ext>
            </a:extLst>
          </p:cNvPr>
          <p:cNvSpPr>
            <a:spLocks noChangeArrowheads="1"/>
          </p:cNvSpPr>
          <p:nvPr/>
        </p:nvSpPr>
        <p:spPr bwMode="auto">
          <a:xfrm>
            <a:off x="683500" y="2274838"/>
            <a:ext cx="5475562"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zh-CN" altLang="zh-CN" sz="1800" b="0" i="0" u="none" strike="noStrike" cap="none" normalizeH="0" baseline="0" dirty="0">
                <a:ln>
                  <a:noFill/>
                </a:ln>
                <a:solidFill>
                  <a:schemeClr val="tx1"/>
                </a:solidFill>
                <a:effectLst/>
                <a:latin typeface="Arial" panose="020B0604020202020204" pitchFamily="34" charset="0"/>
              </a:rPr>
              <a:t>基因本身被“关闭”了，后来才“打开”。这叫做“自动诱导”（autoinduction），意思是细菌通过生长改变培养基环境，从而触发发光基因的激活。</a:t>
            </a:r>
            <a:endParaRPr kumimoji="0" lang="en-US" altLang="zh-CN"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zh-CN" altLang="zh-CN"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800" b="0" i="0" u="none" strike="noStrike" cap="none" normalizeH="0" baseline="0" dirty="0">
                <a:ln>
                  <a:noFill/>
                </a:ln>
                <a:solidFill>
                  <a:schemeClr val="tx1"/>
                </a:solidFill>
                <a:effectLst/>
                <a:latin typeface="Arial" panose="020B0604020202020204" pitchFamily="34" charset="0"/>
              </a:rPr>
              <a:t>为了证明这点，科学家用了抑制剂：</a:t>
            </a:r>
            <a:r>
              <a:rPr kumimoji="0" lang="zh-CN" altLang="zh-CN" b="1" i="0" u="none" strike="noStrike" cap="none" normalizeH="0" baseline="0" dirty="0">
                <a:ln>
                  <a:noFill/>
                </a:ln>
                <a:solidFill>
                  <a:schemeClr val="tx1"/>
                </a:solidFill>
                <a:effectLst/>
                <a:latin typeface="Arial" panose="020B0604020202020204" pitchFamily="34" charset="0"/>
              </a:rPr>
              <a:t>氯霉素</a:t>
            </a:r>
            <a:r>
              <a:rPr kumimoji="0" lang="zh-CN" altLang="zh-CN" b="0" i="0" u="none" strike="noStrike" cap="none" normalizeH="0" baseline="0" dirty="0">
                <a:ln>
                  <a:noFill/>
                </a:ln>
                <a:solidFill>
                  <a:schemeClr val="tx1"/>
                </a:solidFill>
                <a:effectLst/>
                <a:latin typeface="Arial" panose="020B0604020202020204" pitchFamily="34" charset="0"/>
              </a:rPr>
              <a:t>（阻断蛋白质合成）和</a:t>
            </a:r>
            <a:r>
              <a:rPr kumimoji="0" lang="zh-CN" altLang="zh-CN" b="1" i="0" u="none" strike="noStrike" cap="none" normalizeH="0" baseline="0" dirty="0">
                <a:ln>
                  <a:noFill/>
                </a:ln>
                <a:solidFill>
                  <a:schemeClr val="tx1"/>
                </a:solidFill>
                <a:effectLst/>
                <a:latin typeface="Arial" panose="020B0604020202020204" pitchFamily="34" charset="0"/>
              </a:rPr>
              <a:t>利福平</a:t>
            </a:r>
            <a:r>
              <a:rPr kumimoji="0" lang="zh-CN" altLang="zh-CN" b="0" i="0" u="none" strike="noStrike" cap="none" normalizeH="0" baseline="0" dirty="0">
                <a:ln>
                  <a:noFill/>
                </a:ln>
                <a:solidFill>
                  <a:schemeClr val="tx1"/>
                </a:solidFill>
                <a:effectLst/>
                <a:latin typeface="Arial" panose="020B0604020202020204" pitchFamily="34" charset="0"/>
              </a:rPr>
              <a:t>（阻断RNA合成）都能阻止发光增加，说明控制发生在基因开关（转录）水平。</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0498342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5E80E0-DE98-2878-D314-7C0929ACB6F8}"/>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444A8159-ED09-58EF-7310-EF9C342D4DC8}"/>
              </a:ext>
            </a:extLst>
          </p:cNvPr>
          <p:cNvSpPr txBox="1"/>
          <p:nvPr/>
        </p:nvSpPr>
        <p:spPr>
          <a:xfrm>
            <a:off x="1922191" y="367320"/>
            <a:ext cx="8638013" cy="369332"/>
          </a:xfrm>
          <a:prstGeom prst="rect">
            <a:avLst/>
          </a:prstGeom>
          <a:noFill/>
        </p:spPr>
        <p:txBody>
          <a:bodyPr wrap="square">
            <a:spAutoFit/>
          </a:bodyPr>
          <a:lstStyle/>
          <a:p>
            <a:pPr algn="ctr"/>
            <a:r>
              <a:rPr lang="en-US" altLang="zh-CN" b="1" dirty="0"/>
              <a:t>Cellular Control of the Synthesis and Activity </a:t>
            </a:r>
            <a:r>
              <a:rPr lang="en-US" altLang="zh-CN" b="1" dirty="0" err="1"/>
              <a:t>ofthe</a:t>
            </a:r>
            <a:r>
              <a:rPr lang="en-US" altLang="zh-CN" b="1" dirty="0"/>
              <a:t> Bacterial Luminescent System</a:t>
            </a:r>
            <a:endParaRPr lang="zh-CN" altLang="en-US" b="1" dirty="0"/>
          </a:p>
        </p:txBody>
      </p:sp>
      <p:sp>
        <p:nvSpPr>
          <p:cNvPr id="4" name="文本框 3">
            <a:extLst>
              <a:ext uri="{FF2B5EF4-FFF2-40B4-BE49-F238E27FC236}">
                <a16:creationId xmlns:a16="http://schemas.microsoft.com/office/drawing/2014/main" id="{F29EDD33-1317-9D49-231C-816CAE7E0DDD}"/>
              </a:ext>
            </a:extLst>
          </p:cNvPr>
          <p:cNvSpPr txBox="1"/>
          <p:nvPr/>
        </p:nvSpPr>
        <p:spPr>
          <a:xfrm>
            <a:off x="3194127" y="736652"/>
            <a:ext cx="6094140" cy="369332"/>
          </a:xfrm>
          <a:prstGeom prst="rect">
            <a:avLst/>
          </a:prstGeom>
          <a:noFill/>
        </p:spPr>
        <p:txBody>
          <a:bodyPr wrap="square">
            <a:spAutoFit/>
          </a:bodyPr>
          <a:lstStyle/>
          <a:p>
            <a:pPr algn="ctr"/>
            <a:r>
              <a:rPr lang="zh-CN" altLang="en-US" b="1" i="0" dirty="0">
                <a:solidFill>
                  <a:srgbClr val="3C51B4"/>
                </a:solidFill>
                <a:effectLst/>
                <a:latin typeface="Arial" panose="020B0604020202020204" pitchFamily="34" charset="0"/>
              </a:rPr>
              <a:t>细胞对细菌发光系统合成和活性的控制</a:t>
            </a:r>
            <a:endParaRPr lang="zh-CN" altLang="en-US" dirty="0"/>
          </a:p>
        </p:txBody>
      </p:sp>
      <p:pic>
        <p:nvPicPr>
          <p:cNvPr id="2050" name="Picture 2">
            <a:extLst>
              <a:ext uri="{FF2B5EF4-FFF2-40B4-BE49-F238E27FC236}">
                <a16:creationId xmlns:a16="http://schemas.microsoft.com/office/drawing/2014/main" id="{FC163F8A-1B93-D274-DEBD-69769FB42F4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87346" y="1928570"/>
            <a:ext cx="3705225" cy="316230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3">
            <a:extLst>
              <a:ext uri="{FF2B5EF4-FFF2-40B4-BE49-F238E27FC236}">
                <a16:creationId xmlns:a16="http://schemas.microsoft.com/office/drawing/2014/main" id="{9D11CEEA-E569-170D-CD3B-144A276FCD2E}"/>
              </a:ext>
            </a:extLst>
          </p:cNvPr>
          <p:cNvSpPr>
            <a:spLocks noChangeArrowheads="1"/>
          </p:cNvSpPr>
          <p:nvPr/>
        </p:nvSpPr>
        <p:spPr bwMode="auto">
          <a:xfrm>
            <a:off x="1261241" y="2909555"/>
            <a:ext cx="4650827"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800" b="0" i="0" u="none" strike="noStrike" cap="none" normalizeH="0" baseline="0" dirty="0">
                <a:ln>
                  <a:noFill/>
                </a:ln>
                <a:solidFill>
                  <a:schemeClr val="tx1"/>
                </a:solidFill>
                <a:effectLst/>
                <a:latin typeface="Arial" panose="020B0604020202020204" pitchFamily="34" charset="0"/>
              </a:rPr>
              <a:t>添加</a:t>
            </a:r>
            <a:r>
              <a:rPr kumimoji="0" lang="zh-CN" altLang="zh-CN" sz="1800" b="1" i="0" u="none" strike="noStrike" cap="none" normalizeH="0" baseline="0" dirty="0">
                <a:ln>
                  <a:noFill/>
                </a:ln>
                <a:solidFill>
                  <a:schemeClr val="tx1"/>
                </a:solidFill>
                <a:effectLst/>
                <a:latin typeface="Arial" panose="020B0604020202020204" pitchFamily="34" charset="0"/>
              </a:rPr>
              <a:t>精氨酸</a:t>
            </a:r>
            <a:r>
              <a:rPr kumimoji="0" lang="zh-CN" altLang="zh-CN" sz="1800" b="0" i="0" u="none" strike="noStrike" cap="none" normalizeH="0" baseline="0" dirty="0">
                <a:ln>
                  <a:noFill/>
                </a:ln>
                <a:solidFill>
                  <a:schemeClr val="tx1"/>
                </a:solidFill>
                <a:effectLst/>
                <a:latin typeface="Arial" panose="020B0604020202020204" pitchFamily="34" charset="0"/>
              </a:rPr>
              <a:t>（一种氨基酸）能大幅增强发光。但这不是简单的“诱导”（像按开关一样），而是</a:t>
            </a:r>
            <a:r>
              <a:rPr kumimoji="0" lang="zh-CN" altLang="zh-CN" sz="1800" b="1" i="0" u="none" strike="noStrike" cap="none" normalizeH="0" baseline="0" dirty="0">
                <a:ln>
                  <a:noFill/>
                </a:ln>
                <a:solidFill>
                  <a:schemeClr val="tx1"/>
                </a:solidFill>
                <a:effectLst/>
                <a:latin typeface="Arial" panose="020B0604020202020204" pitchFamily="34" charset="0"/>
              </a:rPr>
              <a:t>增强自动诱导</a:t>
            </a:r>
            <a:r>
              <a:rPr kumimoji="0" lang="zh-CN" altLang="zh-CN" sz="1800" b="0" i="0" u="none" strike="noStrike" cap="none" normalizeH="0" baseline="0" dirty="0">
                <a:ln>
                  <a:noFill/>
                </a:ln>
                <a:solidFill>
                  <a:schemeClr val="tx1"/>
                </a:solidFill>
                <a:effectLst/>
                <a:latin typeface="Arial" panose="020B0604020202020204" pitchFamily="34" charset="0"/>
              </a:rPr>
              <a:t>——精氨酸帮助合成更多发光酶和辅助材料（如醛）</a:t>
            </a:r>
          </a:p>
        </p:txBody>
      </p:sp>
    </p:spTree>
    <p:extLst>
      <p:ext uri="{BB962C8B-B14F-4D97-AF65-F5344CB8AC3E}">
        <p14:creationId xmlns:p14="http://schemas.microsoft.com/office/powerpoint/2010/main" val="5271185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76955C-411F-0448-34CD-1B1F9D620C5E}"/>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0331B2D0-1EC4-E2A7-7CC7-0EBEC6204068}"/>
              </a:ext>
            </a:extLst>
          </p:cNvPr>
          <p:cNvSpPr txBox="1"/>
          <p:nvPr/>
        </p:nvSpPr>
        <p:spPr>
          <a:xfrm>
            <a:off x="2535509" y="389623"/>
            <a:ext cx="7120982" cy="646331"/>
          </a:xfrm>
          <a:prstGeom prst="rect">
            <a:avLst/>
          </a:prstGeom>
          <a:noFill/>
        </p:spPr>
        <p:txBody>
          <a:bodyPr wrap="square">
            <a:spAutoFit/>
          </a:bodyPr>
          <a:lstStyle/>
          <a:p>
            <a:pPr algn="ctr"/>
            <a:r>
              <a:rPr lang="en-US" altLang="zh-CN" b="1" dirty="0"/>
              <a:t>Synthetic microbial consortium with specific roles designated by </a:t>
            </a:r>
            <a:r>
              <a:rPr lang="en-US" altLang="zh-CN" b="1" dirty="0" err="1"/>
              <a:t>geneticcircuits</a:t>
            </a:r>
            <a:r>
              <a:rPr lang="en-US" altLang="zh-CN" b="1" dirty="0"/>
              <a:t> for cooperative chemical production</a:t>
            </a:r>
            <a:endParaRPr lang="zh-CN" altLang="en-US" b="1" dirty="0"/>
          </a:p>
        </p:txBody>
      </p:sp>
      <p:sp>
        <p:nvSpPr>
          <p:cNvPr id="4" name="文本框 3">
            <a:extLst>
              <a:ext uri="{FF2B5EF4-FFF2-40B4-BE49-F238E27FC236}">
                <a16:creationId xmlns:a16="http://schemas.microsoft.com/office/drawing/2014/main" id="{BA104A3D-2C9C-09EB-12B7-B550BBADE87E}"/>
              </a:ext>
            </a:extLst>
          </p:cNvPr>
          <p:cNvSpPr txBox="1"/>
          <p:nvPr/>
        </p:nvSpPr>
        <p:spPr>
          <a:xfrm>
            <a:off x="3048930" y="1035954"/>
            <a:ext cx="6094140" cy="646331"/>
          </a:xfrm>
          <a:prstGeom prst="rect">
            <a:avLst/>
          </a:prstGeom>
          <a:noFill/>
        </p:spPr>
        <p:txBody>
          <a:bodyPr wrap="square">
            <a:spAutoFit/>
          </a:bodyPr>
          <a:lstStyle/>
          <a:p>
            <a:pPr algn="ctr"/>
            <a:r>
              <a:rPr lang="zh-CN" altLang="en-US" b="1" i="0" dirty="0">
                <a:solidFill>
                  <a:srgbClr val="3C51B4"/>
                </a:solidFill>
                <a:effectLst/>
                <a:latin typeface="Arial" panose="020B0604020202020204" pitchFamily="34" charset="0"/>
              </a:rPr>
              <a:t>通过基因回路指定特定功能以实现协作化学生产的合成微生物共生体</a:t>
            </a:r>
            <a:endParaRPr lang="zh-CN" altLang="en-US" dirty="0"/>
          </a:p>
        </p:txBody>
      </p:sp>
      <p:pic>
        <p:nvPicPr>
          <p:cNvPr id="3074" name="Picture 2">
            <a:extLst>
              <a:ext uri="{FF2B5EF4-FFF2-40B4-BE49-F238E27FC236}">
                <a16:creationId xmlns:a16="http://schemas.microsoft.com/office/drawing/2014/main" id="{70EA918B-559E-734D-5106-7409C8E4B2C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21366" y="1614934"/>
            <a:ext cx="4324350" cy="4775356"/>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3">
            <a:extLst>
              <a:ext uri="{FF2B5EF4-FFF2-40B4-BE49-F238E27FC236}">
                <a16:creationId xmlns:a16="http://schemas.microsoft.com/office/drawing/2014/main" id="{8B03495C-EE50-38DD-D3EF-90102DB54BC8}"/>
              </a:ext>
            </a:extLst>
          </p:cNvPr>
          <p:cNvSpPr>
            <a:spLocks noChangeArrowheads="1"/>
          </p:cNvSpPr>
          <p:nvPr/>
        </p:nvSpPr>
        <p:spPr bwMode="auto">
          <a:xfrm>
            <a:off x="566631" y="2017453"/>
            <a:ext cx="5729066"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zh-CN" altLang="zh-CN" sz="1800" b="1" i="0" u="none" strike="noStrike" cap="none" normalizeH="0" baseline="0" dirty="0">
                <a:ln>
                  <a:noFill/>
                </a:ln>
                <a:solidFill>
                  <a:schemeClr val="tx1"/>
                </a:solidFill>
                <a:effectLst/>
                <a:latin typeface="Arial" panose="020B0604020202020204" pitchFamily="34" charset="0"/>
              </a:rPr>
              <a:t>酶生产细菌</a:t>
            </a:r>
            <a:r>
              <a:rPr kumimoji="0" lang="zh-CN" altLang="zh-CN" sz="1800" b="0" i="0" u="none" strike="noStrike" cap="none" normalizeH="0" baseline="0" dirty="0">
                <a:ln>
                  <a:noFill/>
                </a:ln>
                <a:solidFill>
                  <a:schemeClr val="tx1"/>
                </a:solidFill>
                <a:effectLst/>
                <a:latin typeface="Arial" panose="020B0604020202020204" pitchFamily="34" charset="0"/>
              </a:rPr>
              <a:t>：它被设计成一个“糖化工人”。肚子里有个开关（遗传电路），能生产一种叫BGL的酶（这种酶能把纤维二糖变成葡萄糖）。更厉害的是，当细菌数量达到一定程度时，它会“自爆”（细胞裂解），把酶释放出来。</a:t>
            </a:r>
            <a:endParaRPr kumimoji="0" lang="en-US" altLang="zh-CN"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zh-CN" altLang="zh-CN"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zh-CN" altLang="zh-CN" sz="1800" b="1" i="0" u="none" strike="noStrike" cap="none" normalizeH="0" baseline="0" dirty="0">
                <a:ln>
                  <a:noFill/>
                </a:ln>
                <a:solidFill>
                  <a:schemeClr val="tx1"/>
                </a:solidFill>
                <a:effectLst/>
                <a:latin typeface="Arial" panose="020B0604020202020204" pitchFamily="34" charset="0"/>
              </a:rPr>
              <a:t>酒精生产细菌</a:t>
            </a:r>
            <a:r>
              <a:rPr kumimoji="0" lang="zh-CN" altLang="zh-CN" sz="1800" b="0" i="0" u="none" strike="noStrike" cap="none" normalizeH="0" baseline="0" dirty="0">
                <a:ln>
                  <a:noFill/>
                </a:ln>
                <a:solidFill>
                  <a:schemeClr val="tx1"/>
                </a:solidFill>
                <a:effectLst/>
                <a:latin typeface="Arial" panose="020B0604020202020204" pitchFamily="34" charset="0"/>
              </a:rPr>
              <a:t>：它是“生产工人”。肚子里也有个开关，能检测到酶生产细菌发出的信号（一种叫AHL的分子）。一旦信号来了，它就启动生产异丙醇（一种酒精）的流水线。</a:t>
            </a:r>
            <a:endParaRPr kumimoji="0" lang="en-US" altLang="zh-CN"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zh-CN" altLang="zh-CN"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800" b="0" i="0" u="none" strike="noStrike" cap="none" normalizeH="0" baseline="0" dirty="0">
                <a:ln>
                  <a:noFill/>
                </a:ln>
                <a:solidFill>
                  <a:schemeClr val="tx1"/>
                </a:solidFill>
                <a:effectLst/>
                <a:latin typeface="Arial" panose="020B0604020202020204" pitchFamily="34" charset="0"/>
              </a:rPr>
              <a:t>关键技巧是：</a:t>
            </a:r>
            <a:r>
              <a:rPr kumimoji="0" lang="zh-CN" altLang="zh-CN" sz="1800" b="1" i="0" u="none" strike="noStrike" cap="none" normalizeH="0" baseline="0" dirty="0">
                <a:ln>
                  <a:noFill/>
                </a:ln>
                <a:solidFill>
                  <a:schemeClr val="tx1"/>
                </a:solidFill>
                <a:effectLst/>
                <a:latin typeface="Arial" panose="020B0604020202020204" pitchFamily="34" charset="0"/>
              </a:rPr>
              <a:t>两个细菌通过“开会信号”（群体感应）来协调</a:t>
            </a:r>
            <a:r>
              <a:rPr kumimoji="0" lang="zh-CN" altLang="zh-CN" sz="1800" b="0" i="0" u="none" strike="noStrike" cap="none" normalizeH="0" baseline="0" dirty="0">
                <a:ln>
                  <a:noFill/>
                </a:ln>
                <a:solidFill>
                  <a:schemeClr val="tx1"/>
                </a:solidFill>
                <a:effectLst/>
                <a:latin typeface="Arial" panose="020B0604020202020204" pitchFamily="34" charset="0"/>
              </a:rPr>
              <a:t>。酶细菌多了就发信号，酒精细菌收到信号才开始干活，避免乱套。</a:t>
            </a:r>
          </a:p>
        </p:txBody>
      </p:sp>
    </p:spTree>
    <p:extLst>
      <p:ext uri="{BB962C8B-B14F-4D97-AF65-F5344CB8AC3E}">
        <p14:creationId xmlns:p14="http://schemas.microsoft.com/office/powerpoint/2010/main" val="34528451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0C77D-5846-8A0A-B50C-8C89038FCD39}"/>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DDE56E52-5FE0-A85E-F727-BD2EE160DD7F}"/>
              </a:ext>
            </a:extLst>
          </p:cNvPr>
          <p:cNvSpPr txBox="1"/>
          <p:nvPr/>
        </p:nvSpPr>
        <p:spPr>
          <a:xfrm>
            <a:off x="2535509" y="389623"/>
            <a:ext cx="7120982" cy="646331"/>
          </a:xfrm>
          <a:prstGeom prst="rect">
            <a:avLst/>
          </a:prstGeom>
          <a:noFill/>
        </p:spPr>
        <p:txBody>
          <a:bodyPr wrap="square">
            <a:spAutoFit/>
          </a:bodyPr>
          <a:lstStyle/>
          <a:p>
            <a:pPr algn="ctr"/>
            <a:r>
              <a:rPr lang="en-US" altLang="zh-CN" b="1" dirty="0"/>
              <a:t>Synthetic microbial consortium with specific roles designated by </a:t>
            </a:r>
            <a:r>
              <a:rPr lang="en-US" altLang="zh-CN" b="1" dirty="0" err="1"/>
              <a:t>geneticcircuits</a:t>
            </a:r>
            <a:r>
              <a:rPr lang="en-US" altLang="zh-CN" b="1" dirty="0"/>
              <a:t> for cooperative chemical production</a:t>
            </a:r>
            <a:endParaRPr lang="zh-CN" altLang="en-US" b="1" dirty="0"/>
          </a:p>
        </p:txBody>
      </p:sp>
      <p:sp>
        <p:nvSpPr>
          <p:cNvPr id="4" name="文本框 3">
            <a:extLst>
              <a:ext uri="{FF2B5EF4-FFF2-40B4-BE49-F238E27FC236}">
                <a16:creationId xmlns:a16="http://schemas.microsoft.com/office/drawing/2014/main" id="{DEDDEF4D-7F8F-6379-E078-06A4411759FD}"/>
              </a:ext>
            </a:extLst>
          </p:cNvPr>
          <p:cNvSpPr txBox="1"/>
          <p:nvPr/>
        </p:nvSpPr>
        <p:spPr>
          <a:xfrm>
            <a:off x="3048930" y="1035954"/>
            <a:ext cx="6094140" cy="646331"/>
          </a:xfrm>
          <a:prstGeom prst="rect">
            <a:avLst/>
          </a:prstGeom>
          <a:noFill/>
        </p:spPr>
        <p:txBody>
          <a:bodyPr wrap="square">
            <a:spAutoFit/>
          </a:bodyPr>
          <a:lstStyle/>
          <a:p>
            <a:pPr algn="ctr"/>
            <a:r>
              <a:rPr lang="zh-CN" altLang="en-US" b="1" i="0" dirty="0">
                <a:solidFill>
                  <a:srgbClr val="3C51B4"/>
                </a:solidFill>
                <a:effectLst/>
                <a:latin typeface="Arial" panose="020B0604020202020204" pitchFamily="34" charset="0"/>
              </a:rPr>
              <a:t>通过基因回路指定特定功能以实现协作化学生产的合成微生物共生体</a:t>
            </a:r>
            <a:endParaRPr lang="zh-CN" altLang="en-US" dirty="0"/>
          </a:p>
        </p:txBody>
      </p:sp>
      <p:sp>
        <p:nvSpPr>
          <p:cNvPr id="2" name="Rectangle 1">
            <a:extLst>
              <a:ext uri="{FF2B5EF4-FFF2-40B4-BE49-F238E27FC236}">
                <a16:creationId xmlns:a16="http://schemas.microsoft.com/office/drawing/2014/main" id="{5969F707-DC51-9D59-7BE1-31CE771786DE}"/>
              </a:ext>
            </a:extLst>
          </p:cNvPr>
          <p:cNvSpPr>
            <a:spLocks noChangeArrowheads="1"/>
          </p:cNvSpPr>
          <p:nvPr/>
        </p:nvSpPr>
        <p:spPr bwMode="auto">
          <a:xfrm>
            <a:off x="131380" y="5302497"/>
            <a:ext cx="754117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800" b="1" i="0" u="none" strike="noStrike" cap="none" normalizeH="0" baseline="0">
                <a:ln>
                  <a:noFill/>
                </a:ln>
                <a:solidFill>
                  <a:schemeClr val="tx1"/>
                </a:solidFill>
                <a:effectLst/>
                <a:latin typeface="Arial" panose="020B0604020202020204" pitchFamily="34" charset="0"/>
              </a:rPr>
              <a:t>团队合作的酒精产量（约16-19 mM）比单干细菌（约5.8 mM）高得多</a:t>
            </a:r>
            <a:r>
              <a:rPr kumimoji="0" lang="zh-CN" altLang="zh-CN" sz="1800" b="0" i="0" u="none" strike="noStrike" cap="none" normalizeH="0" baseline="0">
                <a:ln>
                  <a:noFill/>
                </a:ln>
                <a:solidFill>
                  <a:schemeClr val="tx1"/>
                </a:solidFill>
                <a:effectLst/>
                <a:latin typeface="Arial" panose="020B0604020202020204" pitchFamily="34" charset="0"/>
              </a:rPr>
              <a:t>，而且糖化速度快了4倍</a:t>
            </a:r>
          </a:p>
        </p:txBody>
      </p:sp>
      <p:sp>
        <p:nvSpPr>
          <p:cNvPr id="7" name="文本框 6">
            <a:extLst>
              <a:ext uri="{FF2B5EF4-FFF2-40B4-BE49-F238E27FC236}">
                <a16:creationId xmlns:a16="http://schemas.microsoft.com/office/drawing/2014/main" id="{6DA2CE67-9B8F-254F-989B-A4267CF054EE}"/>
              </a:ext>
            </a:extLst>
          </p:cNvPr>
          <p:cNvSpPr txBox="1"/>
          <p:nvPr/>
        </p:nvSpPr>
        <p:spPr>
          <a:xfrm>
            <a:off x="173420" y="2782669"/>
            <a:ext cx="6096000" cy="646331"/>
          </a:xfrm>
          <a:prstGeom prst="rect">
            <a:avLst/>
          </a:prstGeom>
          <a:noFill/>
        </p:spPr>
        <p:txBody>
          <a:bodyPr wrap="square">
            <a:spAutoFit/>
          </a:bodyPr>
          <a:lstStyle/>
          <a:p>
            <a:r>
              <a:rPr lang="zh-CN" altLang="en-US" dirty="0"/>
              <a:t>细菌长到一定密度（比如OD600=1.3，相当于细菌挤满了）就自爆，瞬间把酶全放出来</a:t>
            </a:r>
          </a:p>
        </p:txBody>
      </p:sp>
      <p:pic>
        <p:nvPicPr>
          <p:cNvPr id="4099" name="Picture 3">
            <a:extLst>
              <a:ext uri="{FF2B5EF4-FFF2-40B4-BE49-F238E27FC236}">
                <a16:creationId xmlns:a16="http://schemas.microsoft.com/office/drawing/2014/main" id="{F10EB41A-B187-C755-6036-EFFD794ECE9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35766" y="1682285"/>
            <a:ext cx="4155911" cy="43251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05638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80B95B-7473-F199-A606-B48F7DF89BDA}"/>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0718C3C4-A2FA-5C18-1E85-55F8C125198A}"/>
              </a:ext>
            </a:extLst>
          </p:cNvPr>
          <p:cNvSpPr txBox="1"/>
          <p:nvPr/>
        </p:nvSpPr>
        <p:spPr>
          <a:xfrm>
            <a:off x="3048930" y="434227"/>
            <a:ext cx="6094140" cy="369332"/>
          </a:xfrm>
          <a:prstGeom prst="rect">
            <a:avLst/>
          </a:prstGeom>
          <a:noFill/>
        </p:spPr>
        <p:txBody>
          <a:bodyPr wrap="square">
            <a:spAutoFit/>
          </a:bodyPr>
          <a:lstStyle/>
          <a:p>
            <a:pPr algn="ctr"/>
            <a:r>
              <a:rPr lang="zh-CN" altLang="en-US" b="1" dirty="0"/>
              <a:t>随机环境下种群增长模型的数值模拟与最优解</a:t>
            </a:r>
          </a:p>
        </p:txBody>
      </p:sp>
      <p:pic>
        <p:nvPicPr>
          <p:cNvPr id="6" name="图片 5" descr="文本">
            <a:extLst>
              <a:ext uri="{FF2B5EF4-FFF2-40B4-BE49-F238E27FC236}">
                <a16:creationId xmlns:a16="http://schemas.microsoft.com/office/drawing/2014/main" id="{4747CF40-91B6-4426-5E11-E16C4F382A37}"/>
              </a:ext>
            </a:extLst>
          </p:cNvPr>
          <p:cNvPicPr>
            <a:picLocks noChangeAspect="1"/>
          </p:cNvPicPr>
          <p:nvPr/>
        </p:nvPicPr>
        <p:blipFill>
          <a:blip r:embed="rId2"/>
          <a:stretch>
            <a:fillRect/>
          </a:stretch>
        </p:blipFill>
        <p:spPr>
          <a:xfrm>
            <a:off x="3266679" y="3732741"/>
            <a:ext cx="5658640" cy="962159"/>
          </a:xfrm>
          <a:prstGeom prst="rect">
            <a:avLst/>
          </a:prstGeom>
        </p:spPr>
      </p:pic>
      <p:pic>
        <p:nvPicPr>
          <p:cNvPr id="8" name="图片 7" descr="图片包含 徽标&#10;&#10;AI 生成的内容可能不正确。">
            <a:extLst>
              <a:ext uri="{FF2B5EF4-FFF2-40B4-BE49-F238E27FC236}">
                <a16:creationId xmlns:a16="http://schemas.microsoft.com/office/drawing/2014/main" id="{1B1D601C-DC33-D666-8CE1-49343637CBD4}"/>
              </a:ext>
            </a:extLst>
          </p:cNvPr>
          <p:cNvPicPr>
            <a:picLocks noChangeAspect="1"/>
          </p:cNvPicPr>
          <p:nvPr/>
        </p:nvPicPr>
        <p:blipFill>
          <a:blip r:embed="rId3"/>
          <a:stretch>
            <a:fillRect/>
          </a:stretch>
        </p:blipFill>
        <p:spPr>
          <a:xfrm>
            <a:off x="2199731" y="2101011"/>
            <a:ext cx="7792537" cy="1047896"/>
          </a:xfrm>
          <a:prstGeom prst="rect">
            <a:avLst/>
          </a:prstGeom>
        </p:spPr>
      </p:pic>
    </p:spTree>
    <p:extLst>
      <p:ext uri="{BB962C8B-B14F-4D97-AF65-F5344CB8AC3E}">
        <p14:creationId xmlns:p14="http://schemas.microsoft.com/office/powerpoint/2010/main" val="22428662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E624D9-D463-800E-98CD-2FD8BF8F332F}"/>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90695027-D10F-707B-A79F-DF3BD3F5AF8A}"/>
              </a:ext>
            </a:extLst>
          </p:cNvPr>
          <p:cNvSpPr txBox="1"/>
          <p:nvPr/>
        </p:nvSpPr>
        <p:spPr>
          <a:xfrm>
            <a:off x="3048930" y="434227"/>
            <a:ext cx="6094140" cy="369332"/>
          </a:xfrm>
          <a:prstGeom prst="rect">
            <a:avLst/>
          </a:prstGeom>
          <a:noFill/>
        </p:spPr>
        <p:txBody>
          <a:bodyPr wrap="square">
            <a:spAutoFit/>
          </a:bodyPr>
          <a:lstStyle/>
          <a:p>
            <a:pPr algn="ctr"/>
            <a:r>
              <a:rPr lang="zh-CN" altLang="en-US" b="1" dirty="0"/>
              <a:t>随机环境下种群增长模型的数值模拟与最优解</a:t>
            </a:r>
          </a:p>
        </p:txBody>
      </p:sp>
      <p:pic>
        <p:nvPicPr>
          <p:cNvPr id="5122" name="Picture 2">
            <a:extLst>
              <a:ext uri="{FF2B5EF4-FFF2-40B4-BE49-F238E27FC236}">
                <a16:creationId xmlns:a16="http://schemas.microsoft.com/office/drawing/2014/main" id="{F80538F2-D354-77B3-A069-ED3126E04E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04443" y="3225672"/>
            <a:ext cx="6942886" cy="3198101"/>
          </a:xfrm>
          <a:prstGeom prst="rect">
            <a:avLst/>
          </a:prstGeom>
          <a:noFill/>
          <a:extLst>
            <a:ext uri="{909E8E84-426E-40DD-AFC4-6F175D3DCCD1}">
              <a14:hiddenFill xmlns:a14="http://schemas.microsoft.com/office/drawing/2010/main">
                <a:solidFill>
                  <a:srgbClr val="FFFFFF"/>
                </a:solidFill>
              </a14:hiddenFill>
            </a:ext>
          </a:extLst>
        </p:spPr>
      </p:pic>
      <p:pic>
        <p:nvPicPr>
          <p:cNvPr id="4" name="图片 3">
            <a:extLst>
              <a:ext uri="{FF2B5EF4-FFF2-40B4-BE49-F238E27FC236}">
                <a16:creationId xmlns:a16="http://schemas.microsoft.com/office/drawing/2014/main" id="{C3FB91EC-90A2-1089-79AB-3666F77B4AC1}"/>
              </a:ext>
            </a:extLst>
          </p:cNvPr>
          <p:cNvPicPr>
            <a:picLocks noChangeAspect="1"/>
          </p:cNvPicPr>
          <p:nvPr/>
        </p:nvPicPr>
        <p:blipFill>
          <a:blip r:embed="rId3"/>
          <a:stretch>
            <a:fillRect/>
          </a:stretch>
        </p:blipFill>
        <p:spPr>
          <a:xfrm>
            <a:off x="1950727" y="1949458"/>
            <a:ext cx="8364117" cy="657317"/>
          </a:xfrm>
          <a:prstGeom prst="rect">
            <a:avLst/>
          </a:prstGeom>
        </p:spPr>
      </p:pic>
    </p:spTree>
    <p:extLst>
      <p:ext uri="{BB962C8B-B14F-4D97-AF65-F5344CB8AC3E}">
        <p14:creationId xmlns:p14="http://schemas.microsoft.com/office/powerpoint/2010/main" val="32967235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622633-32A6-B350-706C-BBDBAF072C9E}"/>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08D959A8-C33F-559F-B463-7E2F3D247148}"/>
              </a:ext>
            </a:extLst>
          </p:cNvPr>
          <p:cNvSpPr txBox="1"/>
          <p:nvPr/>
        </p:nvSpPr>
        <p:spPr>
          <a:xfrm>
            <a:off x="3048930" y="434227"/>
            <a:ext cx="6094140" cy="369332"/>
          </a:xfrm>
          <a:prstGeom prst="rect">
            <a:avLst/>
          </a:prstGeom>
          <a:noFill/>
        </p:spPr>
        <p:txBody>
          <a:bodyPr wrap="square">
            <a:spAutoFit/>
          </a:bodyPr>
          <a:lstStyle/>
          <a:p>
            <a:pPr algn="ctr"/>
            <a:r>
              <a:rPr lang="zh-CN" altLang="en-US" b="1" dirty="0"/>
              <a:t>随机环境下种群增长模型的数值模拟与最优解</a:t>
            </a:r>
          </a:p>
        </p:txBody>
      </p:sp>
      <p:pic>
        <p:nvPicPr>
          <p:cNvPr id="6146" name="Picture 2">
            <a:extLst>
              <a:ext uri="{FF2B5EF4-FFF2-40B4-BE49-F238E27FC236}">
                <a16:creationId xmlns:a16="http://schemas.microsoft.com/office/drawing/2014/main" id="{CC0D6926-D18A-9A30-4B19-9C40551DE3A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62029" y="1542229"/>
            <a:ext cx="6267942" cy="42944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6970458"/>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1337</TotalTime>
  <Words>486</Words>
  <Application>Microsoft Office PowerPoint</Application>
  <PresentationFormat>宽屏</PresentationFormat>
  <Paragraphs>27</Paragraphs>
  <Slides>9</Slides>
  <Notes>0</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9</vt:i4>
      </vt:variant>
    </vt:vector>
  </HeadingPairs>
  <TitlesOfParts>
    <vt:vector size="13" baseType="lpstr">
      <vt:lpstr>等线</vt:lpstr>
      <vt:lpstr>等线 Light</vt:lpstr>
      <vt:lpstr>Arial</vt:lpstr>
      <vt:lpstr>Office 主题​​</vt:lpstr>
      <vt:lpstr>群体感应系统中欺骗行为对人工合成菌群稳定性的影响</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洁瑞 娄</dc:creator>
  <cp:lastModifiedBy>洁瑞 娄</cp:lastModifiedBy>
  <cp:revision>1</cp:revision>
  <dcterms:created xsi:type="dcterms:W3CDTF">2026-02-09T09:39:26Z</dcterms:created>
  <dcterms:modified xsi:type="dcterms:W3CDTF">2026-02-10T07:56:29Z</dcterms:modified>
</cp:coreProperties>
</file>